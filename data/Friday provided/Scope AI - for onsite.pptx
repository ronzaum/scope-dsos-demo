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submit it for review and there are a bunch of errors - they might write that they used a specific procedure, but it turns out that procedure conforms to an ISO standard rather than an ASME one. All of a sudden, the report is invalidated, and you have to do a bunch of rework.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works is that we take in your existing procedures, and ingest a bunch of contextual data including regulatory requirements, P&amp;IDs, historical inspection reports etc.
We clean this up and standardise the extracted information to pre-populate your next report, and then give you a super easy to use tool in the field where you can speak into it, take photos, and extract information from these so that your report is written by the time you're off site. 
sell outcomes - better compliance with standards, faster/accurate reporting with data automatically input, upsell on dashboards and reporting consistency
Sell outcomes - 
Finally we export this - and you can often sell this to your end customers as an upsell - I know Mike mentioned Yorkshire Water is an example of someone who would potentially love this (as they're doing the re-entry of data collected on their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since starting we're fortunate to have worked with a bunch of customers in the TIC industry to make a huge difference to how they do their reporting.
Where we shine is when our clients work with folk that are multisite, ideally have long term contracts - so ideal customers for us are folk like Rosen who already use us in Europe, yourselves, Oceaneering, Bilfinger etc.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TÜV are one of our flagship clients who we've done a bunch of cobranding/marketing with to help them win new contracts. This is an example of some of the materials which led to them winning a £1.2m contract with united utilities
QBR with clients
We've done Mistsubishi Chemicals, CF Fertilisers, Shell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are the broader outcomes we've driven for TÜV - essentially saving 50 hours per month for every inspection, speeding up the inspection time meaningfully. Also maybe helpful to note, we're also doing some work for TUV on the HSE side for point of work risk assessments - when they open the mobile app up before doing an inspection they're able to do an initial form for their HSE which doesn't go to the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image" Target="../media/image-3-20.png"/><Relationship Id="rId21" Type="http://schemas.openxmlformats.org/officeDocument/2006/relationships/image" Target="../media/image-3-21.png"/><Relationship Id="rId22" Type="http://schemas.openxmlformats.org/officeDocument/2006/relationships/image" Target="../media/image-3-22.png"/><Relationship Id="rId23" Type="http://schemas.openxmlformats.org/officeDocument/2006/relationships/image" Target="../media/image-3-23.png"/><Relationship Id="rId24" Type="http://schemas.openxmlformats.org/officeDocument/2006/relationships/image" Target="../media/image-3-24.png"/><Relationship Id="rId25" Type="http://schemas.openxmlformats.org/officeDocument/2006/relationships/image" Target="../media/image-3-25.png"/><Relationship Id="rId26" Type="http://schemas.openxmlformats.org/officeDocument/2006/relationships/image" Target="../media/image-3-26.png"/><Relationship Id="rId27" Type="http://schemas.openxmlformats.org/officeDocument/2006/relationships/image" Target="../media/image-3-27.png"/><Relationship Id="rId28" Type="http://schemas.openxmlformats.org/officeDocument/2006/relationships/image" Target="../media/image-3-28.png"/><Relationship Id="rId29" Type="http://schemas.openxmlformats.org/officeDocument/2006/relationships/image" Target="../media/image-3-29.png"/><Relationship Id="rId30" Type="http://schemas.openxmlformats.org/officeDocument/2006/relationships/image" Target="../media/image-3-30.png"/><Relationship Id="rId31" Type="http://schemas.openxmlformats.org/officeDocument/2006/relationships/image" Target="../media/image-3-31.png"/><Relationship Id="rId32" Type="http://schemas.openxmlformats.org/officeDocument/2006/relationships/image" Target="../media/image-3-32.png"/><Relationship Id="rId33" Type="http://schemas.openxmlformats.org/officeDocument/2006/relationships/image" Target="../media/image-3-33.png"/><Relationship Id="rId34" Type="http://schemas.openxmlformats.org/officeDocument/2006/relationships/image" Target="../media/image-3-34.png"/><Relationship Id="rId35" Type="http://schemas.openxmlformats.org/officeDocument/2006/relationships/image" Target="../media/image-3-35.png"/><Relationship Id="rId36" Type="http://schemas.openxmlformats.org/officeDocument/2006/relationships/image" Target="../media/image-3-36.png"/><Relationship Id="rId37" Type="http://schemas.openxmlformats.org/officeDocument/2006/relationships/image" Target="../media/image-3-37.png"/><Relationship Id="rId38" Type="http://schemas.openxmlformats.org/officeDocument/2006/relationships/image" Target="../media/image-3-38.png"/><Relationship Id="rId39" Type="http://schemas.openxmlformats.org/officeDocument/2006/relationships/image" Target="../media/image-3-39.png"/><Relationship Id="rId40" Type="http://schemas.openxmlformats.org/officeDocument/2006/relationships/image" Target="../media/image-3-40.png"/><Relationship Id="rId41" Type="http://schemas.openxmlformats.org/officeDocument/2006/relationships/image" Target="../media/image-3-41.png"/><Relationship Id="rId42" Type="http://schemas.openxmlformats.org/officeDocument/2006/relationships/image" Target="../media/image-3-42.png"/><Relationship Id="rId43" Type="http://schemas.openxmlformats.org/officeDocument/2006/relationships/image" Target="../media/image-3-43.png"/><Relationship Id="rId44" Type="http://schemas.openxmlformats.org/officeDocument/2006/relationships/image" Target="../media/image-3-44.png"/><Relationship Id="rId45" Type="http://schemas.openxmlformats.org/officeDocument/2006/relationships/slideLayout" Target="../slideLayouts/slideLayout1.xml"/><Relationship Id="rId4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slideLayout" Target="../slideLayouts/slideLayout1.xml"/><Relationship Id="rId20"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2D29"/>
        </a:solidFill>
      </p:bgPr>
    </p:bg>
    <p:spTree>
      <p:nvGrpSpPr>
        <p:cNvPr id="1" name=""/>
        <p:cNvGrpSpPr/>
        <p:nvPr/>
      </p:nvGrpSpPr>
      <p:grpSpPr>
        <a:xfrm>
          <a:off x="0" y="0"/>
          <a:ext cx="0" cy="0"/>
          <a:chOff x="0" y="0"/>
          <a:chExt cx="0" cy="0"/>
        </a:xfrm>
      </p:grpSpPr>
      <p:sp>
        <p:nvSpPr>
          <p:cNvPr id="2" name="Shape 0"/>
          <p:cNvSpPr/>
          <p:nvPr/>
        </p:nvSpPr>
        <p:spPr>
          <a:xfrm>
            <a:off x="-1818344" y="919271"/>
            <a:ext cx="12777788" cy="11220450"/>
          </a:xfrm>
          <a:prstGeom prst="ellipse">
            <a:avLst/>
          </a:prstGeom>
          <a:solidFill>
            <a:srgbClr val="FFFFFF"/>
          </a:solidFill>
          <a:ln w="194548">
            <a:solidFill>
              <a:srgbClr val="333333"/>
            </a:solidFill>
            <a:prstDash val="solid"/>
          </a:ln>
        </p:spPr>
      </p:sp>
      <p:sp>
        <p:nvSpPr>
          <p:cNvPr id="3" name="Text 1"/>
          <p:cNvSpPr/>
          <p:nvPr/>
        </p:nvSpPr>
        <p:spPr>
          <a:xfrm>
            <a:off x="3414713" y="3667125"/>
            <a:ext cx="2228850" cy="157163"/>
          </a:xfrm>
          <a:prstGeom prst="rect">
            <a:avLst/>
          </a:prstGeom>
          <a:noFill/>
          <a:ln/>
        </p:spPr>
        <p:txBody>
          <a:bodyPr wrap="square" lIns="0" tIns="0" rIns="0" bIns="0" rtlCol="0" anchor="ctr"/>
          <a:lstStyle/>
          <a:p>
            <a:pPr algn="l" indent="0" marL="0">
              <a:lnSpc>
                <a:spcPts val="1176"/>
              </a:lnSpc>
              <a:buNone/>
            </a:pPr>
            <a:r>
              <a:rPr lang="en-US" sz="861" dirty="0">
                <a:solidFill>
                  <a:srgbClr val="262D29">
                    <a:alpha val="99000"/>
                  </a:srgbClr>
                </a:solidFill>
                <a:latin typeface="Manrope" pitchFamily="34" charset="0"/>
                <a:ea typeface="Manrope" pitchFamily="34" charset="-122"/>
                <a:cs typeface="Manrope" pitchFamily="34" charset="-120"/>
              </a:rPr>
              <a:t>Trusted by leading engineering providers:</a:t>
            </a:r>
            <a:endParaRPr lang="en-US" sz="861" dirty="0"/>
          </a:p>
        </p:txBody>
      </p:sp>
      <p:pic>
        <p:nvPicPr>
          <p:cNvPr id="4" name="Image 0" descr="preencoded.png">    </p:cNvPr>
          <p:cNvPicPr>
            <a:picLocks noChangeAspect="1"/>
          </p:cNvPicPr>
          <p:nvPr/>
        </p:nvPicPr>
        <p:blipFill>
          <a:blip r:embed="rId1"/>
          <a:srcRect l="0" r="0" t="0" b="0"/>
          <a:stretch/>
        </p:blipFill>
        <p:spPr>
          <a:xfrm>
            <a:off x="1733550" y="4005262"/>
            <a:ext cx="421718" cy="470754"/>
          </a:xfrm>
          <a:prstGeom prst="rect">
            <a:avLst/>
          </a:prstGeom>
        </p:spPr>
      </p:pic>
      <p:pic>
        <p:nvPicPr>
          <p:cNvPr id="5" name="Image 1" descr="preencoded.png">    </p:cNvPr>
          <p:cNvPicPr>
            <a:picLocks noChangeAspect="1"/>
          </p:cNvPicPr>
          <p:nvPr/>
        </p:nvPicPr>
        <p:blipFill>
          <a:blip r:embed="rId2"/>
          <a:srcRect l="0" r="0" t="0" b="0"/>
          <a:stretch/>
        </p:blipFill>
        <p:spPr>
          <a:xfrm>
            <a:off x="4033685" y="3949700"/>
            <a:ext cx="990600" cy="584200"/>
          </a:xfrm>
          <a:prstGeom prst="rect">
            <a:avLst/>
          </a:prstGeom>
        </p:spPr>
      </p:pic>
      <p:pic>
        <p:nvPicPr>
          <p:cNvPr id="6" name="Image 2" descr="preencoded.png">    </p:cNvPr>
          <p:cNvPicPr>
            <a:picLocks noChangeAspect="1"/>
          </p:cNvPicPr>
          <p:nvPr/>
        </p:nvPicPr>
        <p:blipFill>
          <a:blip r:embed="rId3"/>
          <a:srcRect l="0" r="0" t="0" b="0"/>
          <a:stretch/>
        </p:blipFill>
        <p:spPr>
          <a:xfrm>
            <a:off x="2440771" y="4065587"/>
            <a:ext cx="1333500" cy="342900"/>
          </a:xfrm>
          <a:prstGeom prst="rect">
            <a:avLst/>
          </a:prstGeom>
        </p:spPr>
      </p:pic>
      <p:pic>
        <p:nvPicPr>
          <p:cNvPr id="7" name="Image 3" descr="preencoded.png">    </p:cNvPr>
          <p:cNvPicPr>
            <a:picLocks noChangeAspect="1"/>
          </p:cNvPicPr>
          <p:nvPr/>
        </p:nvPicPr>
        <p:blipFill>
          <a:blip r:embed="rId4"/>
          <a:srcRect l="0" r="0" t="0" b="0"/>
          <a:stretch/>
        </p:blipFill>
        <p:spPr>
          <a:xfrm>
            <a:off x="5124450" y="4071938"/>
            <a:ext cx="970908" cy="342900"/>
          </a:xfrm>
          <a:prstGeom prst="rect">
            <a:avLst/>
          </a:prstGeom>
        </p:spPr>
      </p:pic>
      <p:pic>
        <p:nvPicPr>
          <p:cNvPr id="8" name="Image 4" descr="preencoded.png">    </p:cNvPr>
          <p:cNvPicPr>
            <a:picLocks noChangeAspect="1"/>
          </p:cNvPicPr>
          <p:nvPr/>
        </p:nvPicPr>
        <p:blipFill>
          <a:blip r:embed="rId5"/>
          <a:srcRect l="0" r="0" t="0" b="0"/>
          <a:stretch/>
        </p:blipFill>
        <p:spPr>
          <a:xfrm>
            <a:off x="6415088" y="3981450"/>
            <a:ext cx="1028700" cy="514350"/>
          </a:xfrm>
          <a:prstGeom prst="rect">
            <a:avLst/>
          </a:prstGeom>
        </p:spPr>
      </p:pic>
      <p:pic>
        <p:nvPicPr>
          <p:cNvPr id="9" name="Image 5" descr="preencoded.png">    </p:cNvPr>
          <p:cNvPicPr>
            <a:picLocks noChangeAspect="1"/>
          </p:cNvPicPr>
          <p:nvPr/>
        </p:nvPicPr>
        <p:blipFill>
          <a:blip r:embed="rId6"/>
          <a:srcRect l="0" r="0" t="0" b="0"/>
          <a:stretch/>
        </p:blipFill>
        <p:spPr>
          <a:xfrm>
            <a:off x="3067050" y="2076450"/>
            <a:ext cx="3009900" cy="609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DDEFD8"/>
        </a:solidFill>
      </p:bgPr>
    </p:bg>
    <p:spTree>
      <p:nvGrpSpPr>
        <p:cNvPr id="1" name=""/>
        <p:cNvGrpSpPr/>
        <p:nvPr/>
      </p:nvGrpSpPr>
      <p:grpSpPr>
        <a:xfrm>
          <a:off x="0" y="0"/>
          <a:ext cx="0" cy="0"/>
          <a:chOff x="0" y="0"/>
          <a:chExt cx="0" cy="0"/>
        </a:xfrm>
      </p:grpSpPr>
      <p:sp>
        <p:nvSpPr>
          <p:cNvPr id="3" name="Text 0"/>
          <p:cNvSpPr/>
          <p:nvPr/>
        </p:nvSpPr>
        <p:spPr>
          <a:xfrm>
            <a:off x="585788" y="1504950"/>
            <a:ext cx="2357438" cy="2528888"/>
          </a:xfrm>
          <a:prstGeom prst="roundRect">
            <a:avLst>
              <a:gd name="adj" fmla="val 12412"/>
            </a:avLst>
          </a:prstGeom>
          <a:solidFill>
            <a:srgbClr val="FFFFFF"/>
          </a:solidFill>
          <a:ln w="18097">
            <a:solidFill>
              <a:srgbClr val="757575"/>
            </a:solidFill>
          </a:ln>
        </p:spPr>
        <p:txBody>
          <a:bodyPr wrap="square" rtlCol="0" anchor="ctr"/>
          <a:lstStyle/>
          <a:p>
            <a:pPr indent="0" marL="0">
              <a:buNone/>
            </a:pPr>
            <a:endParaRPr lang="en-US" dirty="0"/>
          </a:p>
        </p:txBody>
      </p:sp>
      <p:sp>
        <p:nvSpPr>
          <p:cNvPr id="4" name="Text 1"/>
          <p:cNvSpPr/>
          <p:nvPr/>
        </p:nvSpPr>
        <p:spPr>
          <a:xfrm>
            <a:off x="3448050" y="1504950"/>
            <a:ext cx="2357438" cy="2528888"/>
          </a:xfrm>
          <a:prstGeom prst="roundRect">
            <a:avLst>
              <a:gd name="adj" fmla="val 12412"/>
            </a:avLst>
          </a:prstGeom>
          <a:solidFill>
            <a:srgbClr val="FFFFFF"/>
          </a:solidFill>
          <a:ln w="18097">
            <a:solidFill>
              <a:srgbClr val="757575"/>
            </a:solidFill>
          </a:ln>
        </p:spPr>
        <p:txBody>
          <a:bodyPr wrap="square" rtlCol="0" anchor="ctr"/>
          <a:lstStyle/>
          <a:p>
            <a:pPr indent="0" marL="0">
              <a:buNone/>
            </a:pPr>
            <a:endParaRPr lang="en-US" dirty="0"/>
          </a:p>
        </p:txBody>
      </p:sp>
      <p:sp>
        <p:nvSpPr>
          <p:cNvPr id="5" name="Text 2"/>
          <p:cNvSpPr/>
          <p:nvPr/>
        </p:nvSpPr>
        <p:spPr>
          <a:xfrm>
            <a:off x="6196013" y="1504950"/>
            <a:ext cx="2357438" cy="2528888"/>
          </a:xfrm>
          <a:prstGeom prst="roundRect">
            <a:avLst>
              <a:gd name="adj" fmla="val 12412"/>
            </a:avLst>
          </a:prstGeom>
          <a:solidFill>
            <a:srgbClr val="FFFFFF"/>
          </a:solidFill>
          <a:ln w="18097">
            <a:solidFill>
              <a:srgbClr val="757575"/>
            </a:solidFill>
          </a:ln>
        </p:spPr>
        <p:txBody>
          <a:bodyPr wrap="square" rtlCol="0" anchor="ctr"/>
          <a:lstStyle/>
          <a:p>
            <a:pPr indent="0" marL="0">
              <a:buNone/>
            </a:pPr>
            <a:endParaRPr lang="en-US" dirty="0"/>
          </a:p>
        </p:txBody>
      </p:sp>
      <p:sp>
        <p:nvSpPr>
          <p:cNvPr id="6" name="Text 3"/>
          <p:cNvSpPr/>
          <p:nvPr/>
        </p:nvSpPr>
        <p:spPr>
          <a:xfrm>
            <a:off x="3729038" y="1709738"/>
            <a:ext cx="1347788" cy="733425"/>
          </a:xfrm>
          <a:prstGeom prst="rect">
            <a:avLst/>
          </a:prstGeom>
          <a:noFill/>
          <a:ln/>
        </p:spPr>
        <p:txBody>
          <a:bodyPr wrap="square" lIns="0" tIns="0" rIns="0" bIns="0" rtlCol="0" anchor="ctr"/>
          <a:lstStyle/>
          <a:p>
            <a:pPr algn="l" indent="0" marL="0">
              <a:lnSpc>
                <a:spcPts val="2736"/>
              </a:lnSpc>
              <a:buNone/>
            </a:pPr>
            <a:r>
              <a:rPr lang="en-US" sz="2280" b="1" spc="-46" kern="0" dirty="0">
                <a:solidFill>
                  <a:srgbClr val="000000">
                    <a:alpha val="99000"/>
                  </a:srgbClr>
                </a:solidFill>
                <a:latin typeface="Inter" pitchFamily="34" charset="0"/>
                <a:ea typeface="Inter" pitchFamily="34" charset="-122"/>
                <a:cs typeface="Inter" pitchFamily="34" charset="-120"/>
              </a:rPr>
              <a:t>Human Error</a:t>
            </a:r>
            <a:endParaRPr lang="en-US" sz="2280" dirty="0"/>
          </a:p>
        </p:txBody>
      </p:sp>
      <p:sp>
        <p:nvSpPr>
          <p:cNvPr id="7" name="Text 4"/>
          <p:cNvSpPr/>
          <p:nvPr/>
        </p:nvSpPr>
        <p:spPr>
          <a:xfrm>
            <a:off x="3700463" y="2757488"/>
            <a:ext cx="1924050" cy="685800"/>
          </a:xfrm>
          <a:prstGeom prst="rect">
            <a:avLst/>
          </a:prstGeom>
          <a:noFill/>
          <a:ln/>
        </p:spPr>
        <p:txBody>
          <a:bodyPr wrap="square" lIns="0" tIns="0" rIns="0" bIns="0" rtlCol="0" anchor="ctr"/>
          <a:lstStyle/>
          <a:p>
            <a:pPr algn="l" indent="0" marL="0">
              <a:lnSpc>
                <a:spcPts val="1693"/>
              </a:lnSpc>
              <a:buNone/>
            </a:pPr>
            <a:r>
              <a:rPr lang="en-US" sz="1283" spc="-26" kern="0" dirty="0">
                <a:solidFill>
                  <a:srgbClr val="000000">
                    <a:alpha val="99000"/>
                  </a:srgbClr>
                </a:solidFill>
                <a:latin typeface="Inter" pitchFamily="34" charset="0"/>
                <a:ea typeface="Inter" pitchFamily="34" charset="-122"/>
                <a:cs typeface="Inter" pitchFamily="34" charset="-120"/>
              </a:rPr>
              <a:t>Managers spend hours </a:t>
            </a:r>
            <a:pPr algn="l" indent="0" marL="0">
              <a:lnSpc>
                <a:spcPts val="1693"/>
              </a:lnSpc>
              <a:buNone/>
            </a:pPr>
            <a:r>
              <a:rPr lang="en-US" sz="1283" b="1" spc="-26" kern="0" dirty="0">
                <a:solidFill>
                  <a:srgbClr val="000000">
                    <a:alpha val="99000"/>
                  </a:srgbClr>
                </a:solidFill>
                <a:latin typeface="Inter" pitchFamily="34" charset="0"/>
                <a:ea typeface="Inter" pitchFamily="34" charset="-122"/>
                <a:cs typeface="Inter" pitchFamily="34" charset="-120"/>
              </a:rPr>
              <a:t>checking for reporting errors</a:t>
            </a:r>
            <a:pPr algn="l" indent="0" marL="0">
              <a:lnSpc>
                <a:spcPts val="1693"/>
              </a:lnSpc>
              <a:buNone/>
            </a:pPr>
            <a:r>
              <a:rPr lang="en-US" sz="1283" spc="-26" kern="0" dirty="0">
                <a:solidFill>
                  <a:srgbClr val="000000">
                    <a:alpha val="99000"/>
                  </a:srgbClr>
                </a:solidFill>
                <a:latin typeface="Inter" pitchFamily="34" charset="0"/>
                <a:ea typeface="Inter" pitchFamily="34" charset="-122"/>
                <a:cs typeface="Inter" pitchFamily="34" charset="-120"/>
              </a:rPr>
              <a:t> every week</a:t>
            </a:r>
            <a:endParaRPr lang="en-US" sz="1283" dirty="0"/>
          </a:p>
        </p:txBody>
      </p:sp>
      <p:sp>
        <p:nvSpPr>
          <p:cNvPr id="8" name="Text 5"/>
          <p:cNvSpPr/>
          <p:nvPr/>
        </p:nvSpPr>
        <p:spPr>
          <a:xfrm>
            <a:off x="438150" y="447675"/>
            <a:ext cx="3762375" cy="366713"/>
          </a:xfrm>
          <a:prstGeom prst="rect">
            <a:avLst/>
          </a:prstGeom>
          <a:noFill/>
          <a:ln/>
        </p:spPr>
        <p:txBody>
          <a:bodyPr wrap="square" lIns="0" tIns="0" rIns="0" bIns="0" rtlCol="0" anchor="ctr"/>
          <a:lstStyle/>
          <a:p>
            <a:pPr algn="l" indent="0" marL="0">
              <a:lnSpc>
                <a:spcPts val="2736"/>
              </a:lnSpc>
              <a:buNone/>
            </a:pPr>
            <a:r>
              <a:rPr lang="en-US" sz="2280" b="1" spc="-46" kern="0" dirty="0">
                <a:solidFill>
                  <a:srgbClr val="262D29">
                    <a:alpha val="99000"/>
                  </a:srgbClr>
                </a:solidFill>
                <a:latin typeface="Manrope" pitchFamily="34" charset="0"/>
                <a:ea typeface="Manrope" pitchFamily="34" charset="-122"/>
                <a:cs typeface="Manrope" pitchFamily="34" charset="-120"/>
              </a:rPr>
              <a:t>Industry Challenges</a:t>
            </a:r>
            <a:endParaRPr lang="en-US" sz="2280" dirty="0"/>
          </a:p>
        </p:txBody>
      </p:sp>
      <p:pic>
        <p:nvPicPr>
          <p:cNvPr id="9" name="Image 0" descr="preencoded.png">    </p:cNvPr>
          <p:cNvPicPr>
            <a:picLocks noChangeAspect="1"/>
          </p:cNvPicPr>
          <p:nvPr/>
        </p:nvPicPr>
        <p:blipFill>
          <a:blip r:embed="rId1"/>
          <a:srcRect l="0" r="0" t="0" b="0"/>
          <a:stretch/>
        </p:blipFill>
        <p:spPr>
          <a:xfrm>
            <a:off x="414338" y="4724400"/>
            <a:ext cx="586104" cy="118616"/>
          </a:xfrm>
          <a:prstGeom prst="rect">
            <a:avLst/>
          </a:prstGeom>
        </p:spPr>
      </p:pic>
      <p:sp>
        <p:nvSpPr>
          <p:cNvPr id="10" name="Text 6"/>
          <p:cNvSpPr/>
          <p:nvPr/>
        </p:nvSpPr>
        <p:spPr>
          <a:xfrm>
            <a:off x="800100" y="1709738"/>
            <a:ext cx="1814513" cy="733425"/>
          </a:xfrm>
          <a:prstGeom prst="rect">
            <a:avLst/>
          </a:prstGeom>
          <a:noFill/>
          <a:ln/>
        </p:spPr>
        <p:txBody>
          <a:bodyPr wrap="square" lIns="0" tIns="0" rIns="0" bIns="0" rtlCol="0" anchor="ctr"/>
          <a:lstStyle/>
          <a:p>
            <a:pPr algn="l" indent="0" marL="0">
              <a:lnSpc>
                <a:spcPts val="2736"/>
              </a:lnSpc>
              <a:buNone/>
            </a:pPr>
            <a:r>
              <a:rPr lang="en-US" sz="2280" b="1" spc="-46" kern="0" dirty="0">
                <a:solidFill>
                  <a:srgbClr val="000000">
                    <a:alpha val="99000"/>
                  </a:srgbClr>
                </a:solidFill>
                <a:latin typeface="Inter" pitchFamily="34" charset="0"/>
                <a:ea typeface="Inter" pitchFamily="34" charset="-122"/>
                <a:cs typeface="Inter" pitchFamily="34" charset="-120"/>
              </a:rPr>
              <a:t>Manual Entry</a:t>
            </a:r>
            <a:endParaRPr lang="en-US" sz="2280" dirty="0"/>
          </a:p>
        </p:txBody>
      </p:sp>
      <p:sp>
        <p:nvSpPr>
          <p:cNvPr id="11" name="Text 7"/>
          <p:cNvSpPr/>
          <p:nvPr/>
        </p:nvSpPr>
        <p:spPr>
          <a:xfrm>
            <a:off x="800100" y="2757488"/>
            <a:ext cx="1928813" cy="685800"/>
          </a:xfrm>
          <a:prstGeom prst="rect">
            <a:avLst/>
          </a:prstGeom>
          <a:noFill/>
          <a:ln/>
        </p:spPr>
        <p:txBody>
          <a:bodyPr wrap="square" lIns="0" tIns="0" rIns="0" bIns="0" rtlCol="0" anchor="ctr"/>
          <a:lstStyle/>
          <a:p>
            <a:pPr algn="l" indent="0" marL="0">
              <a:lnSpc>
                <a:spcPts val="1693"/>
              </a:lnSpc>
              <a:buNone/>
            </a:pPr>
            <a:r>
              <a:rPr lang="en-US" sz="1283" spc="-26" kern="0" dirty="0">
                <a:solidFill>
                  <a:srgbClr val="000000">
                    <a:alpha val="99000"/>
                  </a:srgbClr>
                </a:solidFill>
                <a:latin typeface="Inter" pitchFamily="34" charset="0"/>
                <a:ea typeface="Inter" pitchFamily="34" charset="-122"/>
                <a:cs typeface="Inter" pitchFamily="34" charset="-120"/>
              </a:rPr>
              <a:t>Inspectors </a:t>
            </a:r>
            <a:pPr algn="l" indent="0" marL="0">
              <a:lnSpc>
                <a:spcPts val="1693"/>
              </a:lnSpc>
              <a:buNone/>
            </a:pPr>
            <a:r>
              <a:rPr lang="en-US" sz="1283" b="1" spc="-26" kern="0" dirty="0">
                <a:solidFill>
                  <a:srgbClr val="000000">
                    <a:alpha val="99000"/>
                  </a:srgbClr>
                </a:solidFill>
                <a:latin typeface="Inter" pitchFamily="34" charset="0"/>
                <a:ea typeface="Inter" pitchFamily="34" charset="-122"/>
                <a:cs typeface="Inter" pitchFamily="34" charset="-120"/>
              </a:rPr>
              <a:t>waste &gt;50 hours a month</a:t>
            </a:r>
            <a:pPr algn="l" indent="0" marL="0">
              <a:lnSpc>
                <a:spcPts val="1693"/>
              </a:lnSpc>
              <a:buNone/>
            </a:pPr>
            <a:r>
              <a:rPr lang="en-US" sz="1283" spc="-26" kern="0" dirty="0">
                <a:solidFill>
                  <a:srgbClr val="000000">
                    <a:alpha val="99000"/>
                  </a:srgbClr>
                </a:solidFill>
                <a:latin typeface="Inter" pitchFamily="34" charset="0"/>
                <a:ea typeface="Inter" pitchFamily="34" charset="-122"/>
                <a:cs typeface="Inter" pitchFamily="34" charset="-120"/>
              </a:rPr>
              <a:t> doing manual data entry</a:t>
            </a:r>
            <a:endParaRPr lang="en-US" sz="1283" dirty="0"/>
          </a:p>
        </p:txBody>
      </p:sp>
      <p:sp>
        <p:nvSpPr>
          <p:cNvPr id="12" name="Text 8"/>
          <p:cNvSpPr/>
          <p:nvPr/>
        </p:nvSpPr>
        <p:spPr>
          <a:xfrm>
            <a:off x="6457950" y="1709738"/>
            <a:ext cx="1909762" cy="733425"/>
          </a:xfrm>
          <a:prstGeom prst="rect">
            <a:avLst/>
          </a:prstGeom>
          <a:noFill/>
          <a:ln/>
        </p:spPr>
        <p:txBody>
          <a:bodyPr wrap="square" lIns="0" tIns="0" rIns="0" bIns="0" rtlCol="0" anchor="ctr"/>
          <a:lstStyle/>
          <a:p>
            <a:pPr algn="l" indent="0" marL="0">
              <a:lnSpc>
                <a:spcPts val="2736"/>
              </a:lnSpc>
              <a:buNone/>
            </a:pPr>
            <a:r>
              <a:rPr lang="en-US" sz="2280" b="1" spc="-46" kern="0" dirty="0">
                <a:solidFill>
                  <a:srgbClr val="000000">
                    <a:alpha val="99000"/>
                  </a:srgbClr>
                </a:solidFill>
                <a:latin typeface="Inter" pitchFamily="34" charset="0"/>
                <a:ea typeface="Inter" pitchFamily="34" charset="-122"/>
                <a:cs typeface="Inter" pitchFamily="34" charset="-120"/>
              </a:rPr>
              <a:t>Inconsistent Formats</a:t>
            </a:r>
            <a:endParaRPr lang="en-US" sz="2280" dirty="0"/>
          </a:p>
        </p:txBody>
      </p:sp>
      <p:sp>
        <p:nvSpPr>
          <p:cNvPr id="13" name="Text 9"/>
          <p:cNvSpPr/>
          <p:nvPr/>
        </p:nvSpPr>
        <p:spPr>
          <a:xfrm>
            <a:off x="6381750" y="2657475"/>
            <a:ext cx="1985963" cy="1143000"/>
          </a:xfrm>
          <a:prstGeom prst="rect">
            <a:avLst/>
          </a:prstGeom>
          <a:noFill/>
          <a:ln/>
        </p:spPr>
        <p:txBody>
          <a:bodyPr wrap="square" lIns="0" tIns="0" rIns="0" bIns="0" rtlCol="0" anchor="ctr"/>
          <a:lstStyle/>
          <a:p>
            <a:pPr algn="l" indent="0" marL="0">
              <a:lnSpc>
                <a:spcPts val="1693"/>
              </a:lnSpc>
              <a:buNone/>
            </a:pPr>
            <a:r>
              <a:rPr lang="en-US" sz="1283" spc="-26" kern="0" dirty="0">
                <a:solidFill>
                  <a:srgbClr val="000000">
                    <a:alpha val="99000"/>
                  </a:srgbClr>
                </a:solidFill>
                <a:latin typeface="Inter" pitchFamily="34" charset="0"/>
                <a:ea typeface="Inter" pitchFamily="34" charset="-122"/>
                <a:cs typeface="Inter" pitchFamily="34" charset="-120"/>
              </a:rPr>
              <a:t>Clients see </a:t>
            </a:r>
            <a:pPr algn="l" indent="0" marL="0">
              <a:lnSpc>
                <a:spcPts val="1693"/>
              </a:lnSpc>
              <a:buNone/>
            </a:pPr>
            <a:r>
              <a:rPr lang="en-US" sz="1283" b="1" spc="-26" kern="0" dirty="0">
                <a:solidFill>
                  <a:srgbClr val="000000">
                    <a:alpha val="99000"/>
                  </a:srgbClr>
                </a:solidFill>
                <a:latin typeface="Inter" pitchFamily="34" charset="0"/>
                <a:ea typeface="Inter" pitchFamily="34" charset="-122"/>
                <a:cs typeface="Inter" pitchFamily="34" charset="-120"/>
              </a:rPr>
              <a:t>inconsistency in the quality and format of reports</a:t>
            </a:r>
            <a:pPr algn="l" indent="0" marL="0">
              <a:lnSpc>
                <a:spcPts val="1693"/>
              </a:lnSpc>
              <a:buNone/>
            </a:pPr>
            <a:r>
              <a:rPr lang="en-US" sz="1283" spc="-26" kern="0" dirty="0">
                <a:solidFill>
                  <a:srgbClr val="000000">
                    <a:alpha val="99000"/>
                  </a:srgbClr>
                </a:solidFill>
                <a:latin typeface="Inter" pitchFamily="34" charset="0"/>
                <a:ea typeface="Inter" pitchFamily="34" charset="-122"/>
                <a:cs typeface="Inter" pitchFamily="34" charset="-120"/>
              </a:rPr>
              <a:t> across different inspectors</a:t>
            </a:r>
            <a:endParaRPr lang="en-US" sz="128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rcRect l="0" r="0" t="0" b="0"/>
          <a:stretch/>
        </p:blipFill>
        <p:spPr>
          <a:xfrm>
            <a:off x="5156134" y="2262744"/>
            <a:ext cx="1163694" cy="1581234"/>
          </a:xfrm>
          <a:prstGeom prst="rect">
            <a:avLst/>
          </a:prstGeom>
        </p:spPr>
      </p:pic>
      <p:pic>
        <p:nvPicPr>
          <p:cNvPr id="4" name="Image 1" descr="preencoded.png">    </p:cNvPr>
          <p:cNvPicPr>
            <a:picLocks noChangeAspect="1"/>
          </p:cNvPicPr>
          <p:nvPr/>
        </p:nvPicPr>
        <p:blipFill>
          <a:blip r:embed="rId2"/>
          <a:srcRect l="0" r="0" t="0" b="0"/>
          <a:stretch/>
        </p:blipFill>
        <p:spPr>
          <a:xfrm>
            <a:off x="4639270" y="2260588"/>
            <a:ext cx="1181800" cy="1585760"/>
          </a:xfrm>
          <a:prstGeom prst="rect">
            <a:avLst/>
          </a:prstGeom>
        </p:spPr>
      </p:pic>
      <p:pic>
        <p:nvPicPr>
          <p:cNvPr id="5" name="Image 2" descr="preencoded.png">    </p:cNvPr>
          <p:cNvPicPr>
            <a:picLocks noChangeAspect="1"/>
          </p:cNvPicPr>
          <p:nvPr/>
        </p:nvPicPr>
        <p:blipFill>
          <a:blip r:embed="rId3"/>
          <a:srcRect l="0" r="0" t="0" b="0"/>
          <a:stretch/>
        </p:blipFill>
        <p:spPr>
          <a:xfrm>
            <a:off x="5126389" y="2220312"/>
            <a:ext cx="474114" cy="885995"/>
          </a:xfrm>
          <a:prstGeom prst="rect">
            <a:avLst/>
          </a:prstGeom>
        </p:spPr>
      </p:pic>
      <p:pic>
        <p:nvPicPr>
          <p:cNvPr id="6" name="Image 3" descr="preencoded.png">    </p:cNvPr>
          <p:cNvPicPr>
            <a:picLocks noChangeAspect="1"/>
          </p:cNvPicPr>
          <p:nvPr/>
        </p:nvPicPr>
        <p:blipFill>
          <a:blip r:embed="rId4"/>
          <a:srcRect l="0" r="0" t="0" b="0"/>
          <a:stretch/>
        </p:blipFill>
        <p:spPr>
          <a:xfrm>
            <a:off x="4612098" y="2221026"/>
            <a:ext cx="474114" cy="885995"/>
          </a:xfrm>
          <a:prstGeom prst="rect">
            <a:avLst/>
          </a:prstGeom>
        </p:spPr>
      </p:pic>
      <p:pic>
        <p:nvPicPr>
          <p:cNvPr id="7" name="Image 4" descr="preencoded.png">    </p:cNvPr>
          <p:cNvPicPr>
            <a:picLocks noChangeAspect="1"/>
          </p:cNvPicPr>
          <p:nvPr/>
        </p:nvPicPr>
        <p:blipFill>
          <a:blip r:embed="rId5"/>
          <a:srcRect l="0" r="0" t="0" b="0"/>
          <a:stretch/>
        </p:blipFill>
        <p:spPr>
          <a:xfrm>
            <a:off x="6338888" y="3776662"/>
            <a:ext cx="2214563" cy="1624013"/>
          </a:xfrm>
          <a:prstGeom prst="rect">
            <a:avLst/>
          </a:prstGeom>
        </p:spPr>
      </p:pic>
      <p:pic>
        <p:nvPicPr>
          <p:cNvPr id="8" name="Image 5" descr="preencoded.png">    </p:cNvPr>
          <p:cNvPicPr>
            <a:picLocks noChangeAspect="1"/>
          </p:cNvPicPr>
          <p:nvPr/>
        </p:nvPicPr>
        <p:blipFill>
          <a:blip r:embed="rId6"/>
          <a:srcRect l="0" r="0" t="0" b="0"/>
          <a:stretch/>
        </p:blipFill>
        <p:spPr>
          <a:xfrm>
            <a:off x="7525217" y="1641295"/>
            <a:ext cx="974708" cy="1257110"/>
          </a:xfrm>
          <a:prstGeom prst="rect">
            <a:avLst/>
          </a:prstGeom>
        </p:spPr>
      </p:pic>
      <p:pic>
        <p:nvPicPr>
          <p:cNvPr id="9" name="Image 6" descr="preencoded.png">    </p:cNvPr>
          <p:cNvPicPr>
            <a:picLocks noChangeAspect="1"/>
          </p:cNvPicPr>
          <p:nvPr/>
        </p:nvPicPr>
        <p:blipFill>
          <a:blip r:embed="rId7"/>
          <a:srcRect l="0" r="0" t="0" b="0"/>
          <a:stretch/>
        </p:blipFill>
        <p:spPr>
          <a:xfrm>
            <a:off x="1343990" y="4137384"/>
            <a:ext cx="1477842" cy="1021782"/>
          </a:xfrm>
          <a:prstGeom prst="rect">
            <a:avLst/>
          </a:prstGeom>
        </p:spPr>
      </p:pic>
      <p:sp>
        <p:nvSpPr>
          <p:cNvPr id="10" name="Text 0"/>
          <p:cNvSpPr/>
          <p:nvPr/>
        </p:nvSpPr>
        <p:spPr>
          <a:xfrm>
            <a:off x="1591454" y="4159974"/>
            <a:ext cx="421424" cy="184734"/>
          </a:xfrm>
          <a:prstGeom prst="rect">
            <a:avLst/>
          </a:prstGeom>
          <a:noFill/>
          <a:ln/>
        </p:spPr>
        <p:txBody>
          <a:bodyPr wrap="square" lIns="0" tIns="0" rIns="0" bIns="0" rtlCol="0" anchor="ctr"/>
          <a:lstStyle/>
          <a:p>
            <a:pPr algn="l" indent="0" marL="0">
              <a:lnSpc>
                <a:spcPts val="808"/>
              </a:lnSpc>
              <a:buNone/>
            </a:pPr>
            <a:r>
              <a:rPr lang="en-US" sz="591" dirty="0">
                <a:solidFill>
                  <a:srgbClr val="FFFFFF">
                    <a:alpha val="99000"/>
                  </a:srgbClr>
                </a:solidFill>
                <a:latin typeface="Manrope" pitchFamily="34" charset="0"/>
                <a:ea typeface="Manrope" pitchFamily="34" charset="-122"/>
                <a:cs typeface="Manrope" pitchFamily="34" charset="-120"/>
              </a:rPr>
              <a:t>Inspection </a:t>
            </a:r>
            <a:endParaRPr lang="en-US" sz="591" dirty="0"/>
          </a:p>
          <a:p>
            <a:pPr algn="l" indent="0" marL="0">
              <a:lnSpc>
                <a:spcPts val="808"/>
              </a:lnSpc>
              <a:buNone/>
            </a:pPr>
            <a:r>
              <a:rPr lang="en-US" sz="591" dirty="0">
                <a:solidFill>
                  <a:srgbClr val="FFFFFF">
                    <a:alpha val="99000"/>
                  </a:srgbClr>
                </a:solidFill>
                <a:latin typeface="Manrope" pitchFamily="34" charset="0"/>
                <a:ea typeface="Manrope" pitchFamily="34" charset="-122"/>
                <a:cs typeface="Manrope" pitchFamily="34" charset="-120"/>
              </a:rPr>
              <a:t>Reports</a:t>
            </a:r>
            <a:endParaRPr lang="en-US" sz="591" dirty="0"/>
          </a:p>
        </p:txBody>
      </p:sp>
      <p:pic>
        <p:nvPicPr>
          <p:cNvPr id="11" name="Image 7" descr="preencoded.png">    </p:cNvPr>
          <p:cNvPicPr>
            <a:picLocks noChangeAspect="1"/>
          </p:cNvPicPr>
          <p:nvPr/>
        </p:nvPicPr>
        <p:blipFill>
          <a:blip r:embed="rId8"/>
          <a:srcRect l="0" r="0" t="0" b="0"/>
          <a:stretch/>
        </p:blipFill>
        <p:spPr>
          <a:xfrm>
            <a:off x="1420853" y="4206540"/>
            <a:ext cx="115459" cy="115459"/>
          </a:xfrm>
          <a:prstGeom prst="rect">
            <a:avLst/>
          </a:prstGeom>
        </p:spPr>
      </p:pic>
      <p:pic>
        <p:nvPicPr>
          <p:cNvPr id="12" name="Image 8" descr="preencoded.png">    </p:cNvPr>
          <p:cNvPicPr>
            <a:picLocks noChangeAspect="1"/>
          </p:cNvPicPr>
          <p:nvPr/>
        </p:nvPicPr>
        <p:blipFill>
          <a:blip r:embed="rId9"/>
          <a:srcRect l="0" r="0" t="0" b="0"/>
          <a:stretch/>
        </p:blipFill>
        <p:spPr>
          <a:xfrm>
            <a:off x="1808894" y="4378700"/>
            <a:ext cx="20596" cy="25174"/>
          </a:xfrm>
          <a:prstGeom prst="rect">
            <a:avLst/>
          </a:prstGeom>
        </p:spPr>
      </p:pic>
      <p:pic>
        <p:nvPicPr>
          <p:cNvPr id="13" name="Image 9" descr="preencoded.png">    </p:cNvPr>
          <p:cNvPicPr>
            <a:picLocks noChangeAspect="1"/>
          </p:cNvPicPr>
          <p:nvPr/>
        </p:nvPicPr>
        <p:blipFill>
          <a:blip r:embed="rId10"/>
          <a:srcRect l="0" r="0" t="0" b="0"/>
          <a:stretch/>
        </p:blipFill>
        <p:spPr>
          <a:xfrm>
            <a:off x="1409814" y="4373980"/>
            <a:ext cx="14341" cy="16977"/>
          </a:xfrm>
          <a:prstGeom prst="rect">
            <a:avLst/>
          </a:prstGeom>
        </p:spPr>
      </p:pic>
      <p:sp>
        <p:nvSpPr>
          <p:cNvPr id="14" name="Shape 1"/>
          <p:cNvSpPr/>
          <p:nvPr/>
        </p:nvSpPr>
        <p:spPr>
          <a:xfrm>
            <a:off x="3232861" y="2155888"/>
            <a:ext cx="757930" cy="367062"/>
          </a:xfrm>
          <a:prstGeom prst="roundRect">
            <a:avLst/>
          </a:prstGeom>
          <a:solidFill>
            <a:srgbClr val="DDEFD8"/>
          </a:solidFill>
          <a:ln w="3632">
            <a:solidFill>
              <a:srgbClr val="DDEFD8"/>
            </a:solidFill>
            <a:prstDash val="solid"/>
          </a:ln>
        </p:spPr>
      </p:sp>
      <p:sp>
        <p:nvSpPr>
          <p:cNvPr id="15" name="Text 2"/>
          <p:cNvSpPr/>
          <p:nvPr/>
        </p:nvSpPr>
        <p:spPr>
          <a:xfrm>
            <a:off x="3556911" y="2276098"/>
            <a:ext cx="358647" cy="121576"/>
          </a:xfrm>
          <a:prstGeom prst="rect">
            <a:avLst/>
          </a:prstGeom>
          <a:noFill/>
          <a:ln/>
        </p:spPr>
        <p:txBody>
          <a:bodyPr wrap="square" lIns="0" tIns="0" rIns="0" bIns="0" rtlCol="0" anchor="ctr"/>
          <a:lstStyle/>
          <a:p>
            <a:pPr algn="ctr" indent="0" marL="0">
              <a:lnSpc>
                <a:spcPts val="1098"/>
              </a:lnSpc>
              <a:buNone/>
            </a:pPr>
            <a:r>
              <a:rPr lang="en-US" sz="804" dirty="0">
                <a:solidFill>
                  <a:srgbClr val="262D29">
                    <a:alpha val="99000"/>
                  </a:srgbClr>
                </a:solidFill>
                <a:latin typeface="Manrope" pitchFamily="34" charset="0"/>
                <a:ea typeface="Manrope" pitchFamily="34" charset="-122"/>
                <a:cs typeface="Manrope" pitchFamily="34" charset="-120"/>
              </a:rPr>
              <a:t>Clean</a:t>
            </a:r>
            <a:endParaRPr lang="en-US" sz="804" dirty="0"/>
          </a:p>
        </p:txBody>
      </p:sp>
      <p:sp>
        <p:nvSpPr>
          <p:cNvPr id="16" name="Shape 3"/>
          <p:cNvSpPr/>
          <p:nvPr/>
        </p:nvSpPr>
        <p:spPr>
          <a:xfrm>
            <a:off x="3417491" y="2286621"/>
            <a:ext cx="102029" cy="105593"/>
          </a:xfrm>
          <a:prstGeom prst="rect">
            <a:avLst/>
          </a:prstGeom>
          <a:noFill/>
          <a:ln/>
        </p:spPr>
      </p:sp>
      <p:pic>
        <p:nvPicPr>
          <p:cNvPr id="17" name="Image 10" descr="preencoded.png">    </p:cNvPr>
          <p:cNvPicPr>
            <a:picLocks noChangeAspect="1"/>
          </p:cNvPicPr>
          <p:nvPr/>
        </p:nvPicPr>
        <p:blipFill>
          <a:blip r:embed="rId11"/>
          <a:srcRect l="0" r="1" t="0" b="1"/>
          <a:stretch/>
        </p:blipFill>
        <p:spPr>
          <a:xfrm>
            <a:off x="3417496" y="2286620"/>
            <a:ext cx="102019" cy="105592"/>
          </a:xfrm>
          <a:prstGeom prst="rect">
            <a:avLst/>
          </a:prstGeom>
        </p:spPr>
      </p:pic>
      <p:sp>
        <p:nvSpPr>
          <p:cNvPr id="18" name="Shape 4"/>
          <p:cNvSpPr/>
          <p:nvPr/>
        </p:nvSpPr>
        <p:spPr>
          <a:xfrm>
            <a:off x="3231914" y="2552338"/>
            <a:ext cx="757930" cy="367062"/>
          </a:xfrm>
          <a:prstGeom prst="roundRect">
            <a:avLst/>
          </a:prstGeom>
          <a:solidFill>
            <a:srgbClr val="DDEFD8"/>
          </a:solidFill>
          <a:ln w="3632">
            <a:solidFill>
              <a:srgbClr val="DDEFD8"/>
            </a:solidFill>
            <a:prstDash val="solid"/>
          </a:ln>
        </p:spPr>
      </p:sp>
      <p:sp>
        <p:nvSpPr>
          <p:cNvPr id="19" name="Text 5"/>
          <p:cNvSpPr/>
          <p:nvPr/>
        </p:nvSpPr>
        <p:spPr>
          <a:xfrm>
            <a:off x="3532789" y="2672548"/>
            <a:ext cx="323939" cy="126642"/>
          </a:xfrm>
          <a:prstGeom prst="rect">
            <a:avLst/>
          </a:prstGeom>
          <a:noFill/>
          <a:ln/>
        </p:spPr>
        <p:txBody>
          <a:bodyPr wrap="square" lIns="0" tIns="0" rIns="0" bIns="0" rtlCol="0" anchor="ctr"/>
          <a:lstStyle/>
          <a:p>
            <a:pPr algn="ctr" indent="0" marL="0">
              <a:lnSpc>
                <a:spcPts val="1098"/>
              </a:lnSpc>
              <a:buNone/>
            </a:pPr>
            <a:r>
              <a:rPr lang="en-US" sz="804" dirty="0">
                <a:solidFill>
                  <a:srgbClr val="262D29">
                    <a:alpha val="99000"/>
                  </a:srgbClr>
                </a:solidFill>
                <a:latin typeface="Manrope" pitchFamily="34" charset="0"/>
                <a:ea typeface="Manrope" pitchFamily="34" charset="-122"/>
                <a:cs typeface="Manrope" pitchFamily="34" charset="-120"/>
              </a:rPr>
              <a:t>Sync</a:t>
            </a:r>
            <a:endParaRPr lang="en-US" sz="804" dirty="0"/>
          </a:p>
        </p:txBody>
      </p:sp>
      <p:sp>
        <p:nvSpPr>
          <p:cNvPr id="20" name="Shape 6"/>
          <p:cNvSpPr/>
          <p:nvPr/>
        </p:nvSpPr>
        <p:spPr>
          <a:xfrm>
            <a:off x="3416538" y="2688101"/>
            <a:ext cx="102029" cy="105593"/>
          </a:xfrm>
          <a:prstGeom prst="rect">
            <a:avLst/>
          </a:prstGeom>
          <a:noFill/>
          <a:ln/>
        </p:spPr>
      </p:sp>
      <p:pic>
        <p:nvPicPr>
          <p:cNvPr id="21" name="Image 11" descr="preencoded.png">    </p:cNvPr>
          <p:cNvPicPr>
            <a:picLocks noChangeAspect="1"/>
          </p:cNvPicPr>
          <p:nvPr/>
        </p:nvPicPr>
        <p:blipFill>
          <a:blip r:embed="rId12"/>
          <a:srcRect l="0" r="12" t="0" b="0"/>
          <a:stretch/>
        </p:blipFill>
        <p:spPr>
          <a:xfrm>
            <a:off x="3416543" y="2688102"/>
            <a:ext cx="102024" cy="105591"/>
          </a:xfrm>
          <a:prstGeom prst="rect">
            <a:avLst/>
          </a:prstGeom>
        </p:spPr>
      </p:pic>
      <p:pic>
        <p:nvPicPr>
          <p:cNvPr id="22" name="Image 12" descr="preencoded.png">    </p:cNvPr>
          <p:cNvPicPr>
            <a:picLocks noChangeAspect="1"/>
          </p:cNvPicPr>
          <p:nvPr/>
        </p:nvPicPr>
        <p:blipFill>
          <a:blip r:embed="rId13"/>
          <a:srcRect l="0" r="12" t="0" b="0"/>
          <a:stretch/>
        </p:blipFill>
        <p:spPr>
          <a:xfrm>
            <a:off x="3416543" y="2688102"/>
            <a:ext cx="102024" cy="105591"/>
          </a:xfrm>
          <a:prstGeom prst="rect">
            <a:avLst/>
          </a:prstGeom>
        </p:spPr>
      </p:pic>
      <p:sp>
        <p:nvSpPr>
          <p:cNvPr id="23" name="Shape 7"/>
          <p:cNvSpPr/>
          <p:nvPr/>
        </p:nvSpPr>
        <p:spPr>
          <a:xfrm>
            <a:off x="3231914" y="2945916"/>
            <a:ext cx="757930" cy="367062"/>
          </a:xfrm>
          <a:prstGeom prst="roundRect">
            <a:avLst/>
          </a:prstGeom>
          <a:solidFill>
            <a:srgbClr val="DDEFD8"/>
          </a:solidFill>
          <a:ln/>
        </p:spPr>
      </p:sp>
      <p:sp>
        <p:nvSpPr>
          <p:cNvPr id="24" name="Text 8"/>
          <p:cNvSpPr/>
          <p:nvPr/>
        </p:nvSpPr>
        <p:spPr>
          <a:xfrm>
            <a:off x="3480697" y="3045863"/>
            <a:ext cx="485909" cy="167167"/>
          </a:xfrm>
          <a:prstGeom prst="rect">
            <a:avLst/>
          </a:prstGeom>
          <a:noFill/>
          <a:ln/>
        </p:spPr>
        <p:txBody>
          <a:bodyPr wrap="square" lIns="0" tIns="0" rIns="0" bIns="0" rtlCol="0" anchor="ctr"/>
          <a:lstStyle/>
          <a:p>
            <a:pPr algn="l" indent="0" marL="0">
              <a:lnSpc>
                <a:spcPts val="1098"/>
              </a:lnSpc>
              <a:buNone/>
            </a:pPr>
            <a:r>
              <a:rPr lang="en-US" sz="804" dirty="0">
                <a:solidFill>
                  <a:srgbClr val="262D29">
                    <a:alpha val="99000"/>
                  </a:srgbClr>
                </a:solidFill>
                <a:latin typeface="Manrope" pitchFamily="34" charset="0"/>
                <a:ea typeface="Manrope" pitchFamily="34" charset="-122"/>
                <a:cs typeface="Manrope" pitchFamily="34" charset="-120"/>
              </a:rPr>
              <a:t>Comply</a:t>
            </a:r>
            <a:endParaRPr lang="en-US" sz="804" dirty="0"/>
          </a:p>
        </p:txBody>
      </p:sp>
      <p:sp>
        <p:nvSpPr>
          <p:cNvPr id="25" name="Shape 9"/>
          <p:cNvSpPr/>
          <p:nvPr/>
        </p:nvSpPr>
        <p:spPr>
          <a:xfrm>
            <a:off x="3338806" y="3076032"/>
            <a:ext cx="102029" cy="105593"/>
          </a:xfrm>
          <a:prstGeom prst="rect">
            <a:avLst/>
          </a:prstGeom>
          <a:noFill/>
          <a:ln/>
        </p:spPr>
      </p:sp>
      <p:pic>
        <p:nvPicPr>
          <p:cNvPr id="26" name="Image 13" descr="preencoded.png">    </p:cNvPr>
          <p:cNvPicPr>
            <a:picLocks noChangeAspect="1"/>
          </p:cNvPicPr>
          <p:nvPr/>
        </p:nvPicPr>
        <p:blipFill>
          <a:blip r:embed="rId14"/>
          <a:srcRect l="0" r="0" t="0" b="0"/>
          <a:stretch/>
        </p:blipFill>
        <p:spPr>
          <a:xfrm>
            <a:off x="3376689" y="3076032"/>
            <a:ext cx="25815" cy="27531"/>
          </a:xfrm>
          <a:prstGeom prst="rect">
            <a:avLst/>
          </a:prstGeom>
        </p:spPr>
      </p:pic>
      <p:pic>
        <p:nvPicPr>
          <p:cNvPr id="27" name="Image 14" descr="preencoded.png">    </p:cNvPr>
          <p:cNvPicPr>
            <a:picLocks noChangeAspect="1"/>
          </p:cNvPicPr>
          <p:nvPr/>
        </p:nvPicPr>
        <p:blipFill>
          <a:blip r:embed="rId15"/>
          <a:srcRect l="0" r="0" t="0" b="0"/>
          <a:stretch/>
        </p:blipFill>
        <p:spPr>
          <a:xfrm>
            <a:off x="3353584" y="3091664"/>
            <a:ext cx="18815" cy="19462"/>
          </a:xfrm>
          <a:prstGeom prst="rect">
            <a:avLst/>
          </a:prstGeom>
        </p:spPr>
      </p:pic>
      <p:pic>
        <p:nvPicPr>
          <p:cNvPr id="28" name="Image 15" descr="preencoded.png">    </p:cNvPr>
          <p:cNvPicPr>
            <a:picLocks noChangeAspect="1"/>
          </p:cNvPicPr>
          <p:nvPr/>
        </p:nvPicPr>
        <p:blipFill>
          <a:blip r:embed="rId16"/>
          <a:srcRect l="0" r="0" t="0" b="0"/>
          <a:stretch/>
        </p:blipFill>
        <p:spPr>
          <a:xfrm>
            <a:off x="3338806" y="3115705"/>
            <a:ext cx="26601" cy="26716"/>
          </a:xfrm>
          <a:prstGeom prst="rect">
            <a:avLst/>
          </a:prstGeom>
        </p:spPr>
      </p:pic>
      <p:pic>
        <p:nvPicPr>
          <p:cNvPr id="29" name="Image 16" descr="preencoded.png">    </p:cNvPr>
          <p:cNvPicPr>
            <a:picLocks noChangeAspect="1"/>
          </p:cNvPicPr>
          <p:nvPr/>
        </p:nvPicPr>
        <p:blipFill>
          <a:blip r:embed="rId17"/>
          <a:srcRect l="0" r="0" t="0" b="0"/>
          <a:stretch/>
        </p:blipFill>
        <p:spPr>
          <a:xfrm>
            <a:off x="3353919" y="3146852"/>
            <a:ext cx="18806" cy="19472"/>
          </a:xfrm>
          <a:prstGeom prst="rect">
            <a:avLst/>
          </a:prstGeom>
        </p:spPr>
      </p:pic>
      <p:pic>
        <p:nvPicPr>
          <p:cNvPr id="30" name="Image 17" descr="preencoded.png">    </p:cNvPr>
          <p:cNvPicPr>
            <a:picLocks noChangeAspect="1"/>
          </p:cNvPicPr>
          <p:nvPr/>
        </p:nvPicPr>
        <p:blipFill>
          <a:blip r:embed="rId18"/>
          <a:srcRect l="0" r="-4" t="0" b="0"/>
          <a:stretch/>
        </p:blipFill>
        <p:spPr>
          <a:xfrm>
            <a:off x="3377138" y="3154096"/>
            <a:ext cx="25815" cy="27530"/>
          </a:xfrm>
          <a:prstGeom prst="rect">
            <a:avLst/>
          </a:prstGeom>
        </p:spPr>
      </p:pic>
      <p:pic>
        <p:nvPicPr>
          <p:cNvPr id="31" name="Image 18" descr="preencoded.png">    </p:cNvPr>
          <p:cNvPicPr>
            <a:picLocks noChangeAspect="1"/>
          </p:cNvPicPr>
          <p:nvPr/>
        </p:nvPicPr>
        <p:blipFill>
          <a:blip r:embed="rId19"/>
          <a:srcRect l="0" r="0" t="0" b="0"/>
          <a:stretch/>
        </p:blipFill>
        <p:spPr>
          <a:xfrm>
            <a:off x="3407236" y="3146531"/>
            <a:ext cx="18815" cy="19462"/>
          </a:xfrm>
          <a:prstGeom prst="rect">
            <a:avLst/>
          </a:prstGeom>
        </p:spPr>
      </p:pic>
      <p:pic>
        <p:nvPicPr>
          <p:cNvPr id="32" name="Image 19" descr="preencoded.png">    </p:cNvPr>
          <p:cNvPicPr>
            <a:picLocks noChangeAspect="1"/>
          </p:cNvPicPr>
          <p:nvPr/>
        </p:nvPicPr>
        <p:blipFill>
          <a:blip r:embed="rId20"/>
          <a:srcRect l="0" r="19" t="0" b="0"/>
          <a:stretch/>
        </p:blipFill>
        <p:spPr>
          <a:xfrm>
            <a:off x="3414238" y="3115238"/>
            <a:ext cx="26596" cy="26716"/>
          </a:xfrm>
          <a:prstGeom prst="rect">
            <a:avLst/>
          </a:prstGeom>
        </p:spPr>
      </p:pic>
      <p:pic>
        <p:nvPicPr>
          <p:cNvPr id="33" name="Image 20" descr="preencoded.png">    </p:cNvPr>
          <p:cNvPicPr>
            <a:picLocks noChangeAspect="1"/>
          </p:cNvPicPr>
          <p:nvPr/>
        </p:nvPicPr>
        <p:blipFill>
          <a:blip r:embed="rId21"/>
          <a:srcRect l="0" r="0" t="0" b="0"/>
          <a:stretch/>
        </p:blipFill>
        <p:spPr>
          <a:xfrm>
            <a:off x="3406922" y="3091335"/>
            <a:ext cx="18806" cy="19472"/>
          </a:xfrm>
          <a:prstGeom prst="rect">
            <a:avLst/>
          </a:prstGeom>
        </p:spPr>
      </p:pic>
      <p:pic>
        <p:nvPicPr>
          <p:cNvPr id="34" name="Image 21" descr="preencoded.png">    </p:cNvPr>
          <p:cNvPicPr>
            <a:picLocks noChangeAspect="1"/>
          </p:cNvPicPr>
          <p:nvPr/>
        </p:nvPicPr>
        <p:blipFill>
          <a:blip r:embed="rId22"/>
          <a:srcRect l="0" r="0" t="0" b="0"/>
          <a:stretch/>
        </p:blipFill>
        <p:spPr>
          <a:xfrm>
            <a:off x="1208661" y="3438310"/>
            <a:ext cx="1614636" cy="1043675"/>
          </a:xfrm>
          <a:prstGeom prst="rect">
            <a:avLst/>
          </a:prstGeom>
        </p:spPr>
      </p:pic>
      <p:sp>
        <p:nvSpPr>
          <p:cNvPr id="35" name="Text 10"/>
          <p:cNvSpPr/>
          <p:nvPr/>
        </p:nvSpPr>
        <p:spPr>
          <a:xfrm>
            <a:off x="1474089" y="3466548"/>
            <a:ext cx="536506" cy="197660"/>
          </a:xfrm>
          <a:prstGeom prst="rect">
            <a:avLst/>
          </a:prstGeom>
          <a:noFill/>
          <a:ln/>
        </p:spPr>
        <p:txBody>
          <a:bodyPr wrap="square" lIns="0" tIns="0" rIns="0" bIns="0" rtlCol="0" anchor="ctr"/>
          <a:lstStyle/>
          <a:p>
            <a:pPr algn="l" indent="0" marL="0">
              <a:lnSpc>
                <a:spcPts val="808"/>
              </a:lnSpc>
              <a:buNone/>
            </a:pPr>
            <a:r>
              <a:rPr lang="en-US" sz="591" dirty="0">
                <a:solidFill>
                  <a:srgbClr val="FFFFFF">
                    <a:alpha val="99000"/>
                  </a:srgbClr>
                </a:solidFill>
                <a:latin typeface="Manrope" pitchFamily="34" charset="0"/>
                <a:ea typeface="Manrope" pitchFamily="34" charset="-122"/>
                <a:cs typeface="Manrope" pitchFamily="34" charset="-120"/>
              </a:rPr>
              <a:t>Regulatory</a:t>
            </a:r>
            <a:endParaRPr lang="en-US" sz="591" dirty="0"/>
          </a:p>
          <a:p>
            <a:pPr algn="l" indent="0" marL="0">
              <a:lnSpc>
                <a:spcPts val="808"/>
              </a:lnSpc>
              <a:buNone/>
            </a:pPr>
            <a:r>
              <a:rPr lang="en-US" sz="591" dirty="0">
                <a:solidFill>
                  <a:srgbClr val="FFFFFF">
                    <a:alpha val="99000"/>
                  </a:srgbClr>
                </a:solidFill>
                <a:latin typeface="Manrope" pitchFamily="34" charset="0"/>
                <a:ea typeface="Manrope" pitchFamily="34" charset="-122"/>
                <a:cs typeface="Manrope" pitchFamily="34" charset="-120"/>
              </a:rPr>
              <a:t>Requirements</a:t>
            </a:r>
            <a:endParaRPr lang="en-US" sz="591" dirty="0"/>
          </a:p>
        </p:txBody>
      </p:sp>
      <p:pic>
        <p:nvPicPr>
          <p:cNvPr id="36" name="Image 22" descr="preencoded.png">    </p:cNvPr>
          <p:cNvPicPr>
            <a:picLocks noChangeAspect="1"/>
          </p:cNvPicPr>
          <p:nvPr/>
        </p:nvPicPr>
        <p:blipFill>
          <a:blip r:embed="rId23"/>
          <a:srcRect l="0" r="0" t="0" b="0"/>
          <a:stretch/>
        </p:blipFill>
        <p:spPr>
          <a:xfrm>
            <a:off x="1290638" y="3505200"/>
            <a:ext cx="125763" cy="125763"/>
          </a:xfrm>
          <a:prstGeom prst="rect">
            <a:avLst/>
          </a:prstGeom>
        </p:spPr>
      </p:pic>
      <p:pic>
        <p:nvPicPr>
          <p:cNvPr id="37" name="Image 23" descr="preencoded.png">    </p:cNvPr>
          <p:cNvPicPr>
            <a:picLocks noChangeAspect="1"/>
          </p:cNvPicPr>
          <p:nvPr/>
        </p:nvPicPr>
        <p:blipFill>
          <a:blip r:embed="rId24"/>
          <a:srcRect l="0" r="0" t="0" b="0"/>
          <a:stretch/>
        </p:blipFill>
        <p:spPr>
          <a:xfrm>
            <a:off x="1808638" y="3856383"/>
            <a:ext cx="192905" cy="192903"/>
          </a:xfrm>
          <a:prstGeom prst="rect">
            <a:avLst/>
          </a:prstGeom>
        </p:spPr>
      </p:pic>
      <p:pic>
        <p:nvPicPr>
          <p:cNvPr id="38" name="Image 24" descr="preencoded.png">    </p:cNvPr>
          <p:cNvPicPr>
            <a:picLocks noChangeAspect="1"/>
          </p:cNvPicPr>
          <p:nvPr/>
        </p:nvPicPr>
        <p:blipFill>
          <a:blip r:embed="rId25"/>
          <a:srcRect l="0" r="0" t="0" b="0"/>
          <a:stretch/>
        </p:blipFill>
        <p:spPr>
          <a:xfrm>
            <a:off x="1840802" y="3888553"/>
            <a:ext cx="96452" cy="96452"/>
          </a:xfrm>
          <a:prstGeom prst="rect">
            <a:avLst/>
          </a:prstGeom>
        </p:spPr>
      </p:pic>
      <p:pic>
        <p:nvPicPr>
          <p:cNvPr id="39" name="Image 25" descr="preencoded.png">    </p:cNvPr>
          <p:cNvPicPr>
            <a:picLocks noChangeAspect="1"/>
          </p:cNvPicPr>
          <p:nvPr/>
        </p:nvPicPr>
        <p:blipFill>
          <a:blip r:embed="rId26"/>
          <a:srcRect l="0" r="0" t="0" b="0"/>
          <a:stretch/>
        </p:blipFill>
        <p:spPr>
          <a:xfrm>
            <a:off x="935936" y="3502812"/>
            <a:ext cx="233358" cy="233360"/>
          </a:xfrm>
          <a:prstGeom prst="rect">
            <a:avLst/>
          </a:prstGeom>
        </p:spPr>
      </p:pic>
      <p:pic>
        <p:nvPicPr>
          <p:cNvPr id="40" name="Image 26" descr="preencoded.png">    </p:cNvPr>
          <p:cNvPicPr>
            <a:picLocks noChangeAspect="1"/>
          </p:cNvPicPr>
          <p:nvPr/>
        </p:nvPicPr>
        <p:blipFill>
          <a:blip r:embed="rId27"/>
          <a:srcRect l="0" r="0" t="0" b="0"/>
          <a:stretch/>
        </p:blipFill>
        <p:spPr>
          <a:xfrm>
            <a:off x="972773" y="3539660"/>
            <a:ext cx="110540" cy="110539"/>
          </a:xfrm>
          <a:prstGeom prst="rect">
            <a:avLst/>
          </a:prstGeom>
        </p:spPr>
      </p:pic>
      <p:pic>
        <p:nvPicPr>
          <p:cNvPr id="41" name="Image 27" descr="preencoded.png">    </p:cNvPr>
          <p:cNvPicPr>
            <a:picLocks noChangeAspect="1"/>
          </p:cNvPicPr>
          <p:nvPr/>
        </p:nvPicPr>
        <p:blipFill>
          <a:blip r:embed="rId28"/>
          <a:srcRect l="0" r="0" t="0" b="0"/>
          <a:stretch/>
        </p:blipFill>
        <p:spPr>
          <a:xfrm>
            <a:off x="956488" y="4205218"/>
            <a:ext cx="922753" cy="922752"/>
          </a:xfrm>
          <a:prstGeom prst="rect">
            <a:avLst/>
          </a:prstGeom>
        </p:spPr>
      </p:pic>
      <p:pic>
        <p:nvPicPr>
          <p:cNvPr id="42" name="Image 28" descr="preencoded.png">    </p:cNvPr>
          <p:cNvPicPr>
            <a:picLocks noChangeAspect="1"/>
          </p:cNvPicPr>
          <p:nvPr/>
        </p:nvPicPr>
        <p:blipFill>
          <a:blip r:embed="rId29"/>
          <a:srcRect l="0" r="0" t="0" b="0"/>
          <a:stretch/>
        </p:blipFill>
        <p:spPr>
          <a:xfrm>
            <a:off x="984428" y="4237210"/>
            <a:ext cx="96452" cy="96452"/>
          </a:xfrm>
          <a:prstGeom prst="rect">
            <a:avLst/>
          </a:prstGeom>
        </p:spPr>
      </p:pic>
      <p:pic>
        <p:nvPicPr>
          <p:cNvPr id="43" name="Image 29" descr="preencoded.png">    </p:cNvPr>
          <p:cNvPicPr>
            <a:picLocks noChangeAspect="1"/>
          </p:cNvPicPr>
          <p:nvPr/>
        </p:nvPicPr>
        <p:blipFill>
          <a:blip r:embed="rId30"/>
          <a:srcRect l="0" r="0" t="0" b="0"/>
          <a:stretch/>
        </p:blipFill>
        <p:spPr>
          <a:xfrm>
            <a:off x="935936" y="3780463"/>
            <a:ext cx="783601" cy="346092"/>
          </a:xfrm>
          <a:prstGeom prst="rect">
            <a:avLst/>
          </a:prstGeom>
        </p:spPr>
      </p:pic>
      <p:sp>
        <p:nvSpPr>
          <p:cNvPr id="44" name="Text 11"/>
          <p:cNvSpPr/>
          <p:nvPr/>
        </p:nvSpPr>
        <p:spPr>
          <a:xfrm>
            <a:off x="1218302" y="3801796"/>
            <a:ext cx="432227" cy="150079"/>
          </a:xfrm>
          <a:prstGeom prst="rect">
            <a:avLst/>
          </a:prstGeom>
          <a:noFill/>
          <a:ln/>
        </p:spPr>
        <p:txBody>
          <a:bodyPr wrap="square" lIns="0" tIns="0" rIns="0" bIns="0" rtlCol="0" anchor="ctr"/>
          <a:lstStyle/>
          <a:p>
            <a:pPr algn="l" indent="0" marL="0">
              <a:lnSpc>
                <a:spcPts val="808"/>
              </a:lnSpc>
              <a:buNone/>
            </a:pPr>
            <a:r>
              <a:rPr lang="en-US" sz="591" dirty="0">
                <a:solidFill>
                  <a:srgbClr val="FFFFFF">
                    <a:alpha val="99000"/>
                  </a:srgbClr>
                </a:solidFill>
                <a:latin typeface="Manrope" pitchFamily="34" charset="0"/>
                <a:ea typeface="Manrope" pitchFamily="34" charset="-122"/>
                <a:cs typeface="Manrope" pitchFamily="34" charset="-120"/>
              </a:rPr>
              <a:t>P&amp;ID Diagrams</a:t>
            </a:r>
            <a:endParaRPr lang="en-US" sz="591" dirty="0"/>
          </a:p>
        </p:txBody>
      </p:sp>
      <p:pic>
        <p:nvPicPr>
          <p:cNvPr id="45" name="Image 30" descr="preencoded.png">    </p:cNvPr>
          <p:cNvPicPr>
            <a:picLocks noChangeAspect="1"/>
          </p:cNvPicPr>
          <p:nvPr/>
        </p:nvPicPr>
        <p:blipFill>
          <a:blip r:embed="rId31"/>
          <a:srcRect l="0" r="0" t="0" b="0"/>
          <a:stretch/>
        </p:blipFill>
        <p:spPr>
          <a:xfrm>
            <a:off x="1033939" y="3865407"/>
            <a:ext cx="117540" cy="117540"/>
          </a:xfrm>
          <a:prstGeom prst="rect">
            <a:avLst/>
          </a:prstGeom>
        </p:spPr>
      </p:pic>
      <p:pic>
        <p:nvPicPr>
          <p:cNvPr id="46" name="Image 31" descr="preencoded.png">    </p:cNvPr>
          <p:cNvPicPr>
            <a:picLocks noChangeAspect="1"/>
          </p:cNvPicPr>
          <p:nvPr/>
        </p:nvPicPr>
        <p:blipFill>
          <a:blip r:embed="rId32"/>
          <a:srcRect l="0" r="0" t="0" b="0"/>
          <a:stretch/>
        </p:blipFill>
        <p:spPr>
          <a:xfrm>
            <a:off x="2870704" y="2689077"/>
            <a:ext cx="248031" cy="96331"/>
          </a:xfrm>
          <a:prstGeom prst="rect">
            <a:avLst/>
          </a:prstGeom>
        </p:spPr>
      </p:pic>
      <p:pic>
        <p:nvPicPr>
          <p:cNvPr id="47" name="Image 32" descr="preencoded.png">    </p:cNvPr>
          <p:cNvPicPr>
            <a:picLocks noChangeAspect="1"/>
          </p:cNvPicPr>
          <p:nvPr/>
        </p:nvPicPr>
        <p:blipFill>
          <a:blip r:embed="rId33"/>
          <a:srcRect l="0" r="0" t="0" b="0"/>
          <a:stretch/>
        </p:blipFill>
        <p:spPr>
          <a:xfrm>
            <a:off x="4115756" y="2686700"/>
            <a:ext cx="445140" cy="96333"/>
          </a:xfrm>
          <a:prstGeom prst="rect">
            <a:avLst/>
          </a:prstGeom>
        </p:spPr>
      </p:pic>
      <p:pic>
        <p:nvPicPr>
          <p:cNvPr id="48" name="Image 33" descr="preencoded.png">    </p:cNvPr>
          <p:cNvPicPr>
            <a:picLocks noChangeAspect="1"/>
          </p:cNvPicPr>
          <p:nvPr/>
        </p:nvPicPr>
        <p:blipFill>
          <a:blip r:embed="rId34"/>
          <a:srcRect l="0" r="0" t="0" b="0"/>
          <a:stretch/>
        </p:blipFill>
        <p:spPr>
          <a:xfrm>
            <a:off x="6983260" y="1403867"/>
            <a:ext cx="906247" cy="1098795"/>
          </a:xfrm>
          <a:prstGeom prst="rect">
            <a:avLst/>
          </a:prstGeom>
        </p:spPr>
      </p:pic>
      <p:pic>
        <p:nvPicPr>
          <p:cNvPr id="49" name="Image 34" descr="preencoded.png">    </p:cNvPr>
          <p:cNvPicPr>
            <a:picLocks noChangeAspect="1"/>
          </p:cNvPicPr>
          <p:nvPr/>
        </p:nvPicPr>
        <p:blipFill>
          <a:blip r:embed="rId35"/>
          <a:srcRect l="0" r="0" t="0" b="0"/>
          <a:stretch/>
        </p:blipFill>
        <p:spPr>
          <a:xfrm>
            <a:off x="7951587" y="1441742"/>
            <a:ext cx="846344" cy="1107352"/>
          </a:xfrm>
          <a:prstGeom prst="rect">
            <a:avLst/>
          </a:prstGeom>
        </p:spPr>
      </p:pic>
      <p:sp>
        <p:nvSpPr>
          <p:cNvPr id="50" name="Text 12"/>
          <p:cNvSpPr/>
          <p:nvPr/>
        </p:nvSpPr>
        <p:spPr>
          <a:xfrm>
            <a:off x="719138" y="3109913"/>
            <a:ext cx="1423838" cy="276225"/>
          </a:xfrm>
          <a:prstGeom prst="rect">
            <a:avLst/>
          </a:prstGeom>
          <a:noFill/>
          <a:ln/>
        </p:spPr>
        <p:txBody>
          <a:bodyPr wrap="square" lIns="0" tIns="0" rIns="0" bIns="0" rtlCol="0" anchor="ctr"/>
          <a:lstStyle/>
          <a:p>
            <a:pPr algn="ctr" indent="0" marL="0">
              <a:lnSpc>
                <a:spcPts val="1025"/>
              </a:lnSpc>
              <a:buNone/>
            </a:pPr>
            <a:r>
              <a:rPr lang="en-US" sz="854" b="1" spc="-19" kern="0" dirty="0">
                <a:solidFill>
                  <a:srgbClr val="000000">
                    <a:alpha val="99000"/>
                  </a:srgbClr>
                </a:solidFill>
                <a:latin typeface="Inter" pitchFamily="34" charset="0"/>
                <a:ea typeface="Inter" pitchFamily="34" charset="-122"/>
                <a:cs typeface="Inter" pitchFamily="34" charset="-120"/>
              </a:rPr>
              <a:t>Extract and input data from any source</a:t>
            </a:r>
            <a:endParaRPr lang="en-US" sz="854" dirty="0"/>
          </a:p>
        </p:txBody>
      </p:sp>
      <p:sp>
        <p:nvSpPr>
          <p:cNvPr id="51" name="Text 13"/>
          <p:cNvSpPr/>
          <p:nvPr/>
        </p:nvSpPr>
        <p:spPr>
          <a:xfrm>
            <a:off x="557213" y="1249023"/>
            <a:ext cx="1641734" cy="276225"/>
          </a:xfrm>
          <a:prstGeom prst="rect">
            <a:avLst/>
          </a:prstGeom>
          <a:noFill/>
          <a:ln/>
        </p:spPr>
        <p:txBody>
          <a:bodyPr wrap="square" lIns="0" tIns="0" rIns="0" bIns="0" rtlCol="0" anchor="ctr"/>
          <a:lstStyle/>
          <a:p>
            <a:pPr algn="ctr" indent="0" marL="0">
              <a:lnSpc>
                <a:spcPts val="1025"/>
              </a:lnSpc>
              <a:buNone/>
            </a:pPr>
            <a:r>
              <a:rPr lang="en-US" sz="854" b="1" spc="-19" kern="0" dirty="0">
                <a:solidFill>
                  <a:srgbClr val="000000">
                    <a:alpha val="99000"/>
                  </a:srgbClr>
                </a:solidFill>
                <a:latin typeface="Inter" pitchFamily="34" charset="0"/>
                <a:ea typeface="Inter" pitchFamily="34" charset="-122"/>
                <a:cs typeface="Inter" pitchFamily="34" charset="-120"/>
              </a:rPr>
              <a:t>Create workflows with standards and AI</a:t>
            </a:r>
            <a:endParaRPr lang="en-US" sz="854" dirty="0"/>
          </a:p>
        </p:txBody>
      </p:sp>
      <p:sp>
        <p:nvSpPr>
          <p:cNvPr id="52" name="Text 14"/>
          <p:cNvSpPr/>
          <p:nvPr/>
        </p:nvSpPr>
        <p:spPr>
          <a:xfrm>
            <a:off x="3002747" y="1776449"/>
            <a:ext cx="1089734" cy="276225"/>
          </a:xfrm>
          <a:prstGeom prst="rect">
            <a:avLst/>
          </a:prstGeom>
          <a:noFill/>
          <a:ln/>
        </p:spPr>
        <p:txBody>
          <a:bodyPr wrap="square" lIns="0" tIns="0" rIns="0" bIns="0" rtlCol="0" anchor="ctr"/>
          <a:lstStyle/>
          <a:p>
            <a:pPr algn="ctr" indent="0" marL="0">
              <a:lnSpc>
                <a:spcPts val="1025"/>
              </a:lnSpc>
              <a:buNone/>
            </a:pPr>
            <a:r>
              <a:rPr lang="en-US" sz="854" b="1" spc="-19" kern="0" dirty="0">
                <a:solidFill>
                  <a:srgbClr val="000000">
                    <a:alpha val="99000"/>
                  </a:srgbClr>
                </a:solidFill>
                <a:latin typeface="Inter" pitchFamily="34" charset="0"/>
                <a:ea typeface="Inter" pitchFamily="34" charset="-122"/>
                <a:cs typeface="Inter" pitchFamily="34" charset="-120"/>
              </a:rPr>
              <a:t>Automated data clean up</a:t>
            </a:r>
            <a:endParaRPr lang="en-US" sz="854" dirty="0"/>
          </a:p>
        </p:txBody>
      </p:sp>
      <p:sp>
        <p:nvSpPr>
          <p:cNvPr id="53" name="Text 15"/>
          <p:cNvSpPr/>
          <p:nvPr/>
        </p:nvSpPr>
        <p:spPr>
          <a:xfrm>
            <a:off x="4376763" y="1766757"/>
            <a:ext cx="1525272" cy="276225"/>
          </a:xfrm>
          <a:prstGeom prst="rect">
            <a:avLst/>
          </a:prstGeom>
          <a:noFill/>
          <a:ln/>
        </p:spPr>
        <p:txBody>
          <a:bodyPr wrap="square" lIns="0" tIns="0" rIns="0" bIns="0" rtlCol="0" anchor="ctr"/>
          <a:lstStyle/>
          <a:p>
            <a:pPr algn="ctr" indent="0" marL="0">
              <a:lnSpc>
                <a:spcPts val="1025"/>
              </a:lnSpc>
              <a:buNone/>
            </a:pPr>
            <a:r>
              <a:rPr lang="en-US" sz="854" b="1" spc="-19" kern="0" dirty="0">
                <a:solidFill>
                  <a:srgbClr val="000000">
                    <a:alpha val="99000"/>
                  </a:srgbClr>
                </a:solidFill>
                <a:latin typeface="Inter" pitchFamily="34" charset="0"/>
                <a:ea typeface="Inter" pitchFamily="34" charset="-122"/>
                <a:cs typeface="Inter" pitchFamily="34" charset="-120"/>
              </a:rPr>
              <a:t>Collect and add data in field/labs with speech and video</a:t>
            </a:r>
            <a:endParaRPr lang="en-US" sz="854" dirty="0"/>
          </a:p>
        </p:txBody>
      </p:sp>
      <p:sp>
        <p:nvSpPr>
          <p:cNvPr id="54" name="Text 16"/>
          <p:cNvSpPr/>
          <p:nvPr/>
        </p:nvSpPr>
        <p:spPr>
          <a:xfrm>
            <a:off x="7059062" y="1109663"/>
            <a:ext cx="1525272" cy="138113"/>
          </a:xfrm>
          <a:prstGeom prst="rect">
            <a:avLst/>
          </a:prstGeom>
          <a:noFill/>
          <a:ln/>
        </p:spPr>
        <p:txBody>
          <a:bodyPr wrap="square" lIns="0" tIns="0" rIns="0" bIns="0" rtlCol="0" anchor="ctr"/>
          <a:lstStyle/>
          <a:p>
            <a:pPr algn="l" indent="0" marL="0">
              <a:lnSpc>
                <a:spcPts val="1025"/>
              </a:lnSpc>
              <a:buNone/>
            </a:pPr>
            <a:r>
              <a:rPr lang="en-US" sz="854" b="1" spc="-19" kern="0" dirty="0">
                <a:solidFill>
                  <a:srgbClr val="000000">
                    <a:alpha val="99000"/>
                  </a:srgbClr>
                </a:solidFill>
                <a:latin typeface="Inter" pitchFamily="34" charset="0"/>
                <a:ea typeface="Inter" pitchFamily="34" charset="-122"/>
                <a:cs typeface="Inter" pitchFamily="34" charset="-120"/>
              </a:rPr>
              <a:t>Digital Delivery of Reports</a:t>
            </a:r>
            <a:endParaRPr lang="en-US" sz="854" dirty="0"/>
          </a:p>
        </p:txBody>
      </p:sp>
      <p:sp>
        <p:nvSpPr>
          <p:cNvPr id="55" name="Text 17"/>
          <p:cNvSpPr/>
          <p:nvPr/>
        </p:nvSpPr>
        <p:spPr>
          <a:xfrm>
            <a:off x="6624638" y="3281363"/>
            <a:ext cx="1857375" cy="276225"/>
          </a:xfrm>
          <a:prstGeom prst="rect">
            <a:avLst/>
          </a:prstGeom>
          <a:noFill/>
          <a:ln/>
        </p:spPr>
        <p:txBody>
          <a:bodyPr wrap="square" lIns="0" tIns="0" rIns="0" bIns="0" rtlCol="0" anchor="ctr"/>
          <a:lstStyle/>
          <a:p>
            <a:pPr algn="ctr" indent="0" marL="0">
              <a:lnSpc>
                <a:spcPts val="1025"/>
              </a:lnSpc>
              <a:buNone/>
            </a:pPr>
            <a:r>
              <a:rPr lang="en-US" sz="854" b="1" spc="-19" kern="0" dirty="0">
                <a:solidFill>
                  <a:srgbClr val="000000">
                    <a:alpha val="99000"/>
                  </a:srgbClr>
                </a:solidFill>
                <a:latin typeface="Inter" pitchFamily="34" charset="0"/>
                <a:ea typeface="Inter" pitchFamily="34" charset="-122"/>
                <a:cs typeface="Inter" pitchFamily="34" charset="-120"/>
              </a:rPr>
              <a:t>Automatically Generated Dashboards</a:t>
            </a:r>
            <a:endParaRPr lang="en-US" sz="854" dirty="0"/>
          </a:p>
        </p:txBody>
      </p:sp>
      <p:sp>
        <p:nvSpPr>
          <p:cNvPr id="56" name="Text 18"/>
          <p:cNvSpPr/>
          <p:nvPr/>
        </p:nvSpPr>
        <p:spPr>
          <a:xfrm>
            <a:off x="347663" y="428625"/>
            <a:ext cx="2909888" cy="342900"/>
          </a:xfrm>
          <a:prstGeom prst="rect">
            <a:avLst/>
          </a:prstGeom>
          <a:noFill/>
          <a:ln/>
        </p:spPr>
        <p:txBody>
          <a:bodyPr wrap="square" lIns="0" tIns="0" rIns="0" bIns="0" rtlCol="0" anchor="ctr"/>
          <a:lstStyle/>
          <a:p>
            <a:pPr algn="l" indent="0" marL="0">
              <a:lnSpc>
                <a:spcPts val="2565"/>
              </a:lnSpc>
              <a:buNone/>
            </a:pPr>
            <a:r>
              <a:rPr lang="en-US" sz="2138" b="1" spc="-47" kern="0" dirty="0">
                <a:solidFill>
                  <a:srgbClr val="000000">
                    <a:alpha val="99000"/>
                  </a:srgbClr>
                </a:solidFill>
                <a:latin typeface="Manrope" pitchFamily="34" charset="0"/>
                <a:ea typeface="Manrope" pitchFamily="34" charset="-122"/>
                <a:cs typeface="Manrope" pitchFamily="34" charset="-120"/>
              </a:rPr>
              <a:t>How it works</a:t>
            </a:r>
            <a:endParaRPr lang="en-US" sz="2138" dirty="0"/>
          </a:p>
        </p:txBody>
      </p:sp>
      <p:pic>
        <p:nvPicPr>
          <p:cNvPr id="57" name="Image 35" descr="preencoded.png">    </p:cNvPr>
          <p:cNvPicPr>
            <a:picLocks noChangeAspect="1"/>
          </p:cNvPicPr>
          <p:nvPr/>
        </p:nvPicPr>
        <p:blipFill>
          <a:blip r:embed="rId36"/>
          <a:srcRect l="0" r="0" t="0" b="0"/>
          <a:stretch/>
        </p:blipFill>
        <p:spPr>
          <a:xfrm>
            <a:off x="938026" y="1610722"/>
            <a:ext cx="867945" cy="841460"/>
          </a:xfrm>
          <a:prstGeom prst="rect">
            <a:avLst/>
          </a:prstGeom>
        </p:spPr>
      </p:pic>
      <p:pic>
        <p:nvPicPr>
          <p:cNvPr id="58" name="Image 36" descr="preencoded.png">    </p:cNvPr>
          <p:cNvPicPr>
            <a:picLocks noChangeAspect="1"/>
          </p:cNvPicPr>
          <p:nvPr/>
        </p:nvPicPr>
        <p:blipFill>
          <a:blip r:embed="rId37"/>
          <a:srcRect l="0" r="0" t="0" b="0"/>
          <a:stretch/>
        </p:blipFill>
        <p:spPr>
          <a:xfrm>
            <a:off x="1377574" y="1584424"/>
            <a:ext cx="1029302" cy="826432"/>
          </a:xfrm>
          <a:prstGeom prst="rect">
            <a:avLst/>
          </a:prstGeom>
        </p:spPr>
      </p:pic>
      <p:pic>
        <p:nvPicPr>
          <p:cNvPr id="59" name="Image 37" descr="preencoded.png">    </p:cNvPr>
          <p:cNvPicPr>
            <a:picLocks noChangeAspect="1"/>
          </p:cNvPicPr>
          <p:nvPr/>
        </p:nvPicPr>
        <p:blipFill>
          <a:blip r:embed="rId38"/>
          <a:srcRect l="0" r="14050" t="0" b="21406"/>
          <a:stretch/>
        </p:blipFill>
        <p:spPr>
          <a:xfrm>
            <a:off x="2145839" y="2550786"/>
            <a:ext cx="628245" cy="693207"/>
          </a:xfrm>
          <a:prstGeom prst="rect">
            <a:avLst/>
          </a:prstGeom>
        </p:spPr>
      </p:pic>
      <p:pic>
        <p:nvPicPr>
          <p:cNvPr id="60" name="Image 38" descr="preencoded.png">    </p:cNvPr>
          <p:cNvPicPr>
            <a:picLocks noChangeAspect="1"/>
          </p:cNvPicPr>
          <p:nvPr/>
        </p:nvPicPr>
        <p:blipFill>
          <a:blip r:embed="rId39"/>
          <a:srcRect l="0" r="9399" t="0" b="15872"/>
          <a:stretch/>
        </p:blipFill>
        <p:spPr>
          <a:xfrm>
            <a:off x="2178259" y="2036561"/>
            <a:ext cx="622255" cy="631670"/>
          </a:xfrm>
          <a:prstGeom prst="rect">
            <a:avLst/>
          </a:prstGeom>
        </p:spPr>
      </p:pic>
      <p:pic>
        <p:nvPicPr>
          <p:cNvPr id="61" name="Image 39" descr="preencoded.png">    </p:cNvPr>
          <p:cNvPicPr>
            <a:picLocks noChangeAspect="1"/>
          </p:cNvPicPr>
          <p:nvPr/>
        </p:nvPicPr>
        <p:blipFill>
          <a:blip r:embed="rId40"/>
          <a:srcRect l="0" r="0" t="0" b="0"/>
          <a:stretch/>
        </p:blipFill>
        <p:spPr>
          <a:xfrm>
            <a:off x="796826" y="2014928"/>
            <a:ext cx="1844532" cy="1202115"/>
          </a:xfrm>
          <a:prstGeom prst="rect">
            <a:avLst/>
          </a:prstGeom>
        </p:spPr>
      </p:pic>
      <p:pic>
        <p:nvPicPr>
          <p:cNvPr id="62" name="Image 40" descr="preencoded.png">    </p:cNvPr>
          <p:cNvPicPr>
            <a:picLocks noChangeAspect="1"/>
          </p:cNvPicPr>
          <p:nvPr/>
        </p:nvPicPr>
        <p:blipFill>
          <a:blip r:embed="rId41"/>
          <a:srcRect l="0" r="0" t="0" b="0"/>
          <a:stretch/>
        </p:blipFill>
        <p:spPr>
          <a:xfrm>
            <a:off x="7248525" y="3652838"/>
            <a:ext cx="2263732" cy="1667433"/>
          </a:xfrm>
          <a:prstGeom prst="rect">
            <a:avLst/>
          </a:prstGeom>
        </p:spPr>
      </p:pic>
      <p:pic>
        <p:nvPicPr>
          <p:cNvPr id="63" name="Image 41" descr="preencoded.png">    </p:cNvPr>
          <p:cNvPicPr>
            <a:picLocks noChangeAspect="1"/>
          </p:cNvPicPr>
          <p:nvPr/>
        </p:nvPicPr>
        <p:blipFill>
          <a:blip r:embed="rId42"/>
          <a:srcRect l="0" r="4966" t="0" b="34060"/>
          <a:stretch/>
        </p:blipFill>
        <p:spPr>
          <a:xfrm>
            <a:off x="5815164" y="1773993"/>
            <a:ext cx="1016412" cy="798309"/>
          </a:xfrm>
          <a:prstGeom prst="rect">
            <a:avLst/>
          </a:prstGeom>
        </p:spPr>
      </p:pic>
      <p:pic>
        <p:nvPicPr>
          <p:cNvPr id="64" name="Image 42" descr="preencoded.png">    </p:cNvPr>
          <p:cNvPicPr>
            <a:picLocks noChangeAspect="1"/>
          </p:cNvPicPr>
          <p:nvPr/>
        </p:nvPicPr>
        <p:blipFill>
          <a:blip r:embed="rId43"/>
          <a:srcRect l="0" r="1434" t="0" b="43166"/>
          <a:stretch/>
        </p:blipFill>
        <p:spPr>
          <a:xfrm>
            <a:off x="5803862" y="2480383"/>
            <a:ext cx="1025293" cy="563217"/>
          </a:xfrm>
          <a:prstGeom prst="rect">
            <a:avLst/>
          </a:prstGeom>
        </p:spPr>
      </p:pic>
      <p:pic>
        <p:nvPicPr>
          <p:cNvPr id="65" name="Image 43" descr="preencoded.png">    </p:cNvPr>
          <p:cNvPicPr>
            <a:picLocks noChangeAspect="1"/>
          </p:cNvPicPr>
          <p:nvPr/>
        </p:nvPicPr>
        <p:blipFill>
          <a:blip r:embed="rId44"/>
          <a:srcRect l="0" r="0" t="0" b="0"/>
          <a:stretch/>
        </p:blipFill>
        <p:spPr>
          <a:xfrm>
            <a:off x="414338" y="4724400"/>
            <a:ext cx="586104" cy="1186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67238" y="0"/>
            <a:ext cx="4576763" cy="5143500"/>
          </a:xfrm>
          <a:prstGeom prst="rect">
            <a:avLst/>
          </a:prstGeom>
          <a:solidFill>
            <a:srgbClr val="DDEFD8"/>
          </a:solidFill>
          <a:ln/>
        </p:spPr>
        <p:txBody>
          <a:bodyPr wrap="square" rtlCol="0" anchor="ctr"/>
          <a:lstStyle/>
          <a:p>
            <a:pPr indent="0" marL="0">
              <a:buNone/>
            </a:pPr>
            <a:endParaRPr lang="en-US" dirty="0"/>
          </a:p>
        </p:txBody>
      </p:sp>
      <p:pic>
        <p:nvPicPr>
          <p:cNvPr id="4" name="Image 0" descr="preencoded.png">    </p:cNvPr>
          <p:cNvPicPr>
            <a:picLocks noChangeAspect="1"/>
          </p:cNvPicPr>
          <p:nvPr/>
        </p:nvPicPr>
        <p:blipFill>
          <a:blip r:embed="rId1"/>
          <a:srcRect l="0" r="0" t="0" b="0"/>
          <a:stretch/>
        </p:blipFill>
        <p:spPr>
          <a:xfrm>
            <a:off x="414338" y="4724400"/>
            <a:ext cx="586104" cy="118616"/>
          </a:xfrm>
          <a:prstGeom prst="rect">
            <a:avLst/>
          </a:prstGeom>
        </p:spPr>
      </p:pic>
      <p:pic>
        <p:nvPicPr>
          <p:cNvPr id="5" name="Image 1" descr="preencoded.png">    </p:cNvPr>
          <p:cNvPicPr>
            <a:picLocks noChangeAspect="1"/>
          </p:cNvPicPr>
          <p:nvPr/>
        </p:nvPicPr>
        <p:blipFill>
          <a:blip r:embed="rId2"/>
          <a:srcRect l="0" r="0" t="0" b="0"/>
          <a:stretch/>
        </p:blipFill>
        <p:spPr>
          <a:xfrm>
            <a:off x="1081088" y="2319338"/>
            <a:ext cx="442913" cy="140283"/>
          </a:xfrm>
          <a:prstGeom prst="rect">
            <a:avLst/>
          </a:prstGeom>
        </p:spPr>
      </p:pic>
      <p:pic>
        <p:nvPicPr>
          <p:cNvPr id="6" name="Image 2" descr="preencoded.png">    </p:cNvPr>
          <p:cNvPicPr>
            <a:picLocks noChangeAspect="1"/>
          </p:cNvPicPr>
          <p:nvPr/>
        </p:nvPicPr>
        <p:blipFill>
          <a:blip r:embed="rId3"/>
          <a:srcRect l="0" r="0" t="0" b="0"/>
          <a:stretch/>
        </p:blipFill>
        <p:spPr>
          <a:xfrm>
            <a:off x="1081088" y="2924175"/>
            <a:ext cx="442913" cy="140283"/>
          </a:xfrm>
          <a:prstGeom prst="rect">
            <a:avLst/>
          </a:prstGeom>
        </p:spPr>
      </p:pic>
      <p:sp>
        <p:nvSpPr>
          <p:cNvPr id="7" name="Text 1"/>
          <p:cNvSpPr/>
          <p:nvPr/>
        </p:nvSpPr>
        <p:spPr>
          <a:xfrm>
            <a:off x="1728788" y="2200275"/>
            <a:ext cx="2400300" cy="457200"/>
          </a:xfrm>
          <a:prstGeom prst="rect">
            <a:avLst/>
          </a:prstGeom>
          <a:noFill/>
          <a:ln/>
        </p:spPr>
        <p:txBody>
          <a:bodyPr wrap="square" lIns="0" tIns="0" rIns="0" bIns="0" rtlCol="0" anchor="ctr"/>
          <a:lstStyle/>
          <a:p>
            <a:pPr algn="l" indent="0" marL="0">
              <a:lnSpc>
                <a:spcPts val="1693"/>
              </a:lnSpc>
              <a:buNone/>
            </a:pPr>
            <a:r>
              <a:rPr lang="en-US" sz="1283" spc="-26" kern="0" dirty="0">
                <a:solidFill>
                  <a:srgbClr val="000000">
                    <a:alpha val="99000"/>
                  </a:srgbClr>
                </a:solidFill>
                <a:latin typeface="Inter" pitchFamily="34" charset="0"/>
                <a:ea typeface="Inter" pitchFamily="34" charset="-122"/>
                <a:cs typeface="Inter" pitchFamily="34" charset="-120"/>
              </a:rPr>
              <a:t>2x faster inspections with the same headcount </a:t>
            </a:r>
            <a:endParaRPr lang="en-US" sz="1283" dirty="0"/>
          </a:p>
        </p:txBody>
      </p:sp>
      <p:sp>
        <p:nvSpPr>
          <p:cNvPr id="8" name="Text 2"/>
          <p:cNvSpPr/>
          <p:nvPr/>
        </p:nvSpPr>
        <p:spPr>
          <a:xfrm>
            <a:off x="1728788" y="2805113"/>
            <a:ext cx="2295525" cy="228600"/>
          </a:xfrm>
          <a:prstGeom prst="rect">
            <a:avLst/>
          </a:prstGeom>
          <a:noFill/>
          <a:ln/>
        </p:spPr>
        <p:txBody>
          <a:bodyPr wrap="square" lIns="0" tIns="0" rIns="0" bIns="0" rtlCol="0" anchor="ctr"/>
          <a:lstStyle/>
          <a:p>
            <a:pPr algn="l" indent="0" marL="0">
              <a:lnSpc>
                <a:spcPts val="1693"/>
              </a:lnSpc>
              <a:buNone/>
            </a:pPr>
            <a:r>
              <a:rPr lang="en-US" sz="1283" spc="-26" kern="0" dirty="0">
                <a:solidFill>
                  <a:srgbClr val="000000">
                    <a:alpha val="99000"/>
                  </a:srgbClr>
                </a:solidFill>
                <a:latin typeface="Inter" pitchFamily="34" charset="0"/>
                <a:ea typeface="Inter" pitchFamily="34" charset="-122"/>
                <a:cs typeface="Inter" pitchFamily="34" charset="-120"/>
              </a:rPr>
              <a:t>Major increase in efficiency</a:t>
            </a:r>
            <a:endParaRPr lang="en-US" sz="1283" dirty="0"/>
          </a:p>
        </p:txBody>
      </p:sp>
      <p:pic>
        <p:nvPicPr>
          <p:cNvPr id="9" name="Image 3" descr="preencoded.png">    </p:cNvPr>
          <p:cNvPicPr>
            <a:picLocks noChangeAspect="1"/>
          </p:cNvPicPr>
          <p:nvPr/>
        </p:nvPicPr>
        <p:blipFill>
          <a:blip r:embed="rId4"/>
          <a:srcRect l="0" r="0" t="0" b="0"/>
          <a:stretch/>
        </p:blipFill>
        <p:spPr>
          <a:xfrm>
            <a:off x="1081088" y="1938337"/>
            <a:ext cx="442913" cy="140283"/>
          </a:xfrm>
          <a:prstGeom prst="rect">
            <a:avLst/>
          </a:prstGeom>
        </p:spPr>
      </p:pic>
      <p:sp>
        <p:nvSpPr>
          <p:cNvPr id="10" name="Text 3"/>
          <p:cNvSpPr/>
          <p:nvPr/>
        </p:nvSpPr>
        <p:spPr>
          <a:xfrm>
            <a:off x="1671638" y="1824038"/>
            <a:ext cx="2619375" cy="228600"/>
          </a:xfrm>
          <a:prstGeom prst="rect">
            <a:avLst/>
          </a:prstGeom>
          <a:noFill/>
          <a:ln/>
        </p:spPr>
        <p:txBody>
          <a:bodyPr wrap="square" lIns="0" tIns="0" rIns="0" bIns="0" rtlCol="0" anchor="ctr"/>
          <a:lstStyle/>
          <a:p>
            <a:pPr algn="l" indent="0" marL="0">
              <a:lnSpc>
                <a:spcPts val="1693"/>
              </a:lnSpc>
              <a:buNone/>
            </a:pPr>
            <a:r>
              <a:rPr lang="en-US" sz="1283" spc="-26" kern="0" dirty="0">
                <a:solidFill>
                  <a:srgbClr val="000000">
                    <a:alpha val="99000"/>
                  </a:srgbClr>
                </a:solidFill>
                <a:latin typeface="Inter" pitchFamily="34" charset="0"/>
                <a:ea typeface="Inter" pitchFamily="34" charset="-122"/>
                <a:cs typeface="Inter" pitchFamily="34" charset="-120"/>
              </a:rPr>
              <a:t> Cut reporting time by 80%</a:t>
            </a:r>
            <a:endParaRPr lang="en-US" sz="1283" dirty="0"/>
          </a:p>
        </p:txBody>
      </p:sp>
      <p:sp>
        <p:nvSpPr>
          <p:cNvPr id="11" name="Text 4"/>
          <p:cNvSpPr/>
          <p:nvPr/>
        </p:nvSpPr>
        <p:spPr>
          <a:xfrm>
            <a:off x="5086350" y="1571625"/>
            <a:ext cx="2971800" cy="1714500"/>
          </a:xfrm>
          <a:prstGeom prst="rect">
            <a:avLst/>
          </a:prstGeom>
          <a:noFill/>
          <a:ln/>
        </p:spPr>
        <p:txBody>
          <a:bodyPr wrap="square" lIns="0" tIns="0" rIns="0" bIns="0" rtlCol="0" anchor="ctr"/>
          <a:lstStyle/>
          <a:p>
            <a:pPr algn="l" indent="0" marL="0">
              <a:lnSpc>
                <a:spcPts val="2565"/>
              </a:lnSpc>
              <a:buNone/>
            </a:pPr>
            <a:r>
              <a:rPr lang="en-US" sz="2138" b="1" spc="-47" kern="0" dirty="0">
                <a:solidFill>
                  <a:srgbClr val="000000">
                    <a:alpha val="99000"/>
                  </a:srgbClr>
                </a:solidFill>
                <a:latin typeface="Manrope" pitchFamily="34" charset="0"/>
                <a:ea typeface="Manrope" pitchFamily="34" charset="-122"/>
                <a:cs typeface="Manrope" pitchFamily="34" charset="-120"/>
              </a:rPr>
              <a:t>We are established as the leading solution for complex data ingestion and reporting</a:t>
            </a:r>
            <a:endParaRPr lang="en-US" sz="2138" dirty="0"/>
          </a:p>
        </p:txBody>
      </p:sp>
      <p:sp>
        <p:nvSpPr>
          <p:cNvPr id="12" name="Text 5"/>
          <p:cNvSpPr/>
          <p:nvPr/>
        </p:nvSpPr>
        <p:spPr>
          <a:xfrm>
            <a:off x="438150" y="447675"/>
            <a:ext cx="3762375" cy="366713"/>
          </a:xfrm>
          <a:prstGeom prst="rect">
            <a:avLst/>
          </a:prstGeom>
          <a:noFill/>
          <a:ln/>
        </p:spPr>
        <p:txBody>
          <a:bodyPr wrap="square" lIns="0" tIns="0" rIns="0" bIns="0" rtlCol="0" anchor="ctr"/>
          <a:lstStyle/>
          <a:p>
            <a:pPr algn="l" indent="0" marL="0">
              <a:lnSpc>
                <a:spcPts val="2736"/>
              </a:lnSpc>
              <a:buNone/>
            </a:pPr>
            <a:r>
              <a:rPr lang="en-US" sz="2280" b="1" spc="-46" kern="0" dirty="0">
                <a:solidFill>
                  <a:srgbClr val="262D29">
                    <a:alpha val="99000"/>
                  </a:srgbClr>
                </a:solidFill>
                <a:latin typeface="Manrope" pitchFamily="34" charset="0"/>
                <a:ea typeface="Manrope" pitchFamily="34" charset="-122"/>
                <a:cs typeface="Manrope" pitchFamily="34" charset="-120"/>
              </a:rPr>
              <a:t>Proven Results</a:t>
            </a:r>
            <a:endParaRPr lang="en-US" sz="22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DDEFD8"/>
        </a:solidFill>
      </p:bgPr>
    </p:bg>
    <p:spTree>
      <p:nvGrpSpPr>
        <p:cNvPr id="1" name=""/>
        <p:cNvGrpSpPr/>
        <p:nvPr/>
      </p:nvGrpSpPr>
      <p:grpSpPr>
        <a:xfrm>
          <a:off x="0" y="0"/>
          <a:ext cx="0" cy="0"/>
          <a:chOff x="0" y="0"/>
          <a:chExt cx="0" cy="0"/>
        </a:xfrm>
      </p:grpSpPr>
      <p:sp>
        <p:nvSpPr>
          <p:cNvPr id="2" name="Text 0"/>
          <p:cNvSpPr/>
          <p:nvPr/>
        </p:nvSpPr>
        <p:spPr>
          <a:xfrm>
            <a:off x="709613" y="2300288"/>
            <a:ext cx="6081713" cy="547688"/>
          </a:xfrm>
          <a:prstGeom prst="rect">
            <a:avLst/>
          </a:prstGeom>
          <a:noFill/>
          <a:ln/>
        </p:spPr>
        <p:txBody>
          <a:bodyPr wrap="square" lIns="0" tIns="0" rIns="0" bIns="0" rtlCol="0" anchor="ctr"/>
          <a:lstStyle/>
          <a:p>
            <a:pPr algn="l" indent="0" marL="0">
              <a:lnSpc>
                <a:spcPts val="4104"/>
              </a:lnSpc>
              <a:buNone/>
            </a:pPr>
            <a:r>
              <a:rPr lang="en-US" sz="3420" b="1" spc="-68" kern="0" dirty="0">
                <a:solidFill>
                  <a:srgbClr val="262D29">
                    <a:alpha val="99000"/>
                  </a:srgbClr>
                </a:solidFill>
                <a:latin typeface="Inter" pitchFamily="34" charset="0"/>
                <a:ea typeface="Inter" pitchFamily="34" charset="-122"/>
                <a:cs typeface="Inter" pitchFamily="34" charset="-120"/>
              </a:rPr>
              <a:t>Case Study - TÜV Rheinland</a:t>
            </a:r>
            <a:endParaRPr lang="en-US" sz="3420" dirty="0"/>
          </a:p>
        </p:txBody>
      </p:sp>
      <p:pic>
        <p:nvPicPr>
          <p:cNvPr id="3" name="Image 0" descr="preencoded.png">    </p:cNvPr>
          <p:cNvPicPr>
            <a:picLocks noChangeAspect="1"/>
          </p:cNvPicPr>
          <p:nvPr/>
        </p:nvPicPr>
        <p:blipFill>
          <a:blip r:embed="rId1"/>
          <a:srcRect l="0" r="0" t="0" b="0"/>
          <a:stretch/>
        </p:blipFill>
        <p:spPr>
          <a:xfrm>
            <a:off x="414338" y="4724400"/>
            <a:ext cx="586104" cy="1186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347663" y="428625"/>
            <a:ext cx="4171950" cy="342900"/>
          </a:xfrm>
          <a:prstGeom prst="rect">
            <a:avLst/>
          </a:prstGeom>
          <a:noFill/>
          <a:ln/>
        </p:spPr>
        <p:txBody>
          <a:bodyPr wrap="square" lIns="0" tIns="0" rIns="0" bIns="0" rtlCol="0" anchor="ctr"/>
          <a:lstStyle/>
          <a:p>
            <a:pPr algn="l" indent="0" marL="0">
              <a:lnSpc>
                <a:spcPts val="2565"/>
              </a:lnSpc>
              <a:buNone/>
            </a:pPr>
            <a:r>
              <a:rPr lang="en-US" sz="2138" b="1" spc="-47" kern="0" dirty="0">
                <a:solidFill>
                  <a:srgbClr val="000000">
                    <a:alpha val="99000"/>
                  </a:srgbClr>
                </a:solidFill>
                <a:latin typeface="Manrope" pitchFamily="34" charset="0"/>
                <a:ea typeface="Manrope" pitchFamily="34" charset="-122"/>
                <a:cs typeface="Manrope" pitchFamily="34" charset="-120"/>
              </a:rPr>
              <a:t>TÜV - SmartRBI cobranding</a:t>
            </a:r>
            <a:endParaRPr lang="en-US" sz="2138" dirty="0"/>
          </a:p>
        </p:txBody>
      </p:sp>
      <p:pic>
        <p:nvPicPr>
          <p:cNvPr id="4" name="Image 0" descr="preencoded.png">    </p:cNvPr>
          <p:cNvPicPr>
            <a:picLocks noChangeAspect="1"/>
          </p:cNvPicPr>
          <p:nvPr/>
        </p:nvPicPr>
        <p:blipFill>
          <a:blip r:embed="rId1"/>
          <a:srcRect l="0" r="0" t="0" b="0"/>
          <a:stretch/>
        </p:blipFill>
        <p:spPr>
          <a:xfrm>
            <a:off x="4719638" y="923925"/>
            <a:ext cx="3814763" cy="1736015"/>
          </a:xfrm>
          <a:prstGeom prst="rect">
            <a:avLst/>
          </a:prstGeom>
        </p:spPr>
      </p:pic>
      <p:pic>
        <p:nvPicPr>
          <p:cNvPr id="5" name="Image 1" descr="preencoded.png">    </p:cNvPr>
          <p:cNvPicPr>
            <a:picLocks noChangeAspect="1"/>
          </p:cNvPicPr>
          <p:nvPr/>
        </p:nvPicPr>
        <p:blipFill>
          <a:blip r:embed="rId2"/>
          <a:srcRect l="0" r="0" t="0" b="0"/>
          <a:stretch/>
        </p:blipFill>
        <p:spPr>
          <a:xfrm>
            <a:off x="347663" y="923925"/>
            <a:ext cx="4224338" cy="360868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438860"/>
        </a:solidFill>
      </p:bgPr>
    </p:bg>
    <p:spTree>
      <p:nvGrpSpPr>
        <p:cNvPr id="1" name=""/>
        <p:cNvGrpSpPr/>
        <p:nvPr/>
      </p:nvGrpSpPr>
      <p:grpSpPr>
        <a:xfrm>
          <a:off x="0" y="0"/>
          <a:ext cx="0" cy="0"/>
          <a:chOff x="0" y="0"/>
          <a:chExt cx="0" cy="0"/>
        </a:xfrm>
      </p:grpSpPr>
      <p:sp>
        <p:nvSpPr>
          <p:cNvPr id="3" name="Shape 0"/>
          <p:cNvSpPr/>
          <p:nvPr/>
        </p:nvSpPr>
        <p:spPr>
          <a:xfrm>
            <a:off x="2552700" y="1504950"/>
            <a:ext cx="1909762" cy="2886075"/>
          </a:xfrm>
          <a:prstGeom prst="roundRect">
            <a:avLst/>
          </a:prstGeom>
          <a:solidFill>
            <a:srgbClr val="DDEFD8"/>
          </a:solidFill>
          <a:ln w="8320">
            <a:solidFill>
              <a:srgbClr val="DDEFD8"/>
            </a:solidFill>
            <a:prstDash val="solid"/>
          </a:ln>
        </p:spPr>
      </p:sp>
      <p:sp>
        <p:nvSpPr>
          <p:cNvPr id="4" name="Shape 1"/>
          <p:cNvSpPr/>
          <p:nvPr/>
        </p:nvSpPr>
        <p:spPr>
          <a:xfrm>
            <a:off x="4676775" y="1504950"/>
            <a:ext cx="1909762" cy="2886075"/>
          </a:xfrm>
          <a:prstGeom prst="roundRect">
            <a:avLst/>
          </a:prstGeom>
          <a:solidFill>
            <a:srgbClr val="DDEFD8"/>
          </a:solidFill>
          <a:ln w="8320">
            <a:solidFill>
              <a:srgbClr val="DDEFD8"/>
            </a:solidFill>
            <a:prstDash val="solid"/>
          </a:ln>
        </p:spPr>
      </p:sp>
      <p:sp>
        <p:nvSpPr>
          <p:cNvPr id="5" name="Shape 2"/>
          <p:cNvSpPr/>
          <p:nvPr/>
        </p:nvSpPr>
        <p:spPr>
          <a:xfrm>
            <a:off x="6800850" y="1504950"/>
            <a:ext cx="1909762" cy="2886075"/>
          </a:xfrm>
          <a:prstGeom prst="roundRect">
            <a:avLst/>
          </a:prstGeom>
          <a:solidFill>
            <a:srgbClr val="DDEFD8"/>
          </a:solidFill>
          <a:ln w="8320">
            <a:solidFill>
              <a:srgbClr val="DDEFD8"/>
            </a:solidFill>
            <a:prstDash val="solid"/>
          </a:ln>
        </p:spPr>
      </p:sp>
      <p:sp>
        <p:nvSpPr>
          <p:cNvPr id="6" name="Shape 3"/>
          <p:cNvSpPr/>
          <p:nvPr/>
        </p:nvSpPr>
        <p:spPr>
          <a:xfrm>
            <a:off x="428625" y="1504950"/>
            <a:ext cx="1909762" cy="2886075"/>
          </a:xfrm>
          <a:prstGeom prst="roundRect">
            <a:avLst/>
          </a:prstGeom>
          <a:solidFill>
            <a:srgbClr val="DDEFD8"/>
          </a:solidFill>
          <a:ln w="8320">
            <a:solidFill>
              <a:srgbClr val="DDEFD8"/>
            </a:solidFill>
            <a:prstDash val="solid"/>
          </a:ln>
        </p:spPr>
      </p:sp>
      <p:sp>
        <p:nvSpPr>
          <p:cNvPr id="7" name="Text 4"/>
          <p:cNvSpPr/>
          <p:nvPr/>
        </p:nvSpPr>
        <p:spPr>
          <a:xfrm>
            <a:off x="428625" y="500063"/>
            <a:ext cx="8410575" cy="547688"/>
          </a:xfrm>
          <a:prstGeom prst="rect">
            <a:avLst/>
          </a:prstGeom>
          <a:noFill/>
          <a:ln/>
        </p:spPr>
        <p:txBody>
          <a:bodyPr wrap="square" lIns="0" tIns="0" rIns="0" bIns="0" rtlCol="0" anchor="ctr"/>
          <a:lstStyle/>
          <a:p>
            <a:pPr algn="l" indent="0" marL="0">
              <a:lnSpc>
                <a:spcPts val="4104"/>
              </a:lnSpc>
              <a:buNone/>
            </a:pPr>
            <a:r>
              <a:rPr lang="en-US" sz="3420" b="1" spc="-68" kern="0" dirty="0">
                <a:solidFill>
                  <a:srgbClr val="FFFFFF">
                    <a:alpha val="99000"/>
                  </a:srgbClr>
                </a:solidFill>
                <a:latin typeface="Inter" pitchFamily="34" charset="0"/>
                <a:ea typeface="Inter" pitchFamily="34" charset="-122"/>
                <a:cs typeface="Inter" pitchFamily="34" charset="-120"/>
              </a:rPr>
              <a:t>Outcomes post 3 months deployment</a:t>
            </a:r>
            <a:endParaRPr lang="en-US" sz="3420" dirty="0"/>
          </a:p>
        </p:txBody>
      </p:sp>
      <p:sp>
        <p:nvSpPr>
          <p:cNvPr id="8" name="Text 5"/>
          <p:cNvSpPr/>
          <p:nvPr/>
        </p:nvSpPr>
        <p:spPr>
          <a:xfrm>
            <a:off x="533400" y="2433638"/>
            <a:ext cx="1700213" cy="457200"/>
          </a:xfrm>
          <a:prstGeom prst="rect">
            <a:avLst/>
          </a:prstGeom>
          <a:noFill/>
          <a:ln/>
        </p:spPr>
        <p:txBody>
          <a:bodyPr wrap="square" lIns="0" tIns="0" rIns="0" bIns="0" rtlCol="0" anchor="ctr"/>
          <a:lstStyle/>
          <a:p>
            <a:pPr algn="ctr" indent="0" marL="0">
              <a:lnSpc>
                <a:spcPts val="3420"/>
              </a:lnSpc>
              <a:buNone/>
            </a:pPr>
            <a:r>
              <a:rPr lang="en-US" sz="2850" b="1" spc="-57" kern="0" dirty="0">
                <a:solidFill>
                  <a:srgbClr val="000000">
                    <a:alpha val="99000"/>
                  </a:srgbClr>
                </a:solidFill>
                <a:latin typeface="Inter" pitchFamily="34" charset="0"/>
                <a:ea typeface="Inter" pitchFamily="34" charset="-122"/>
                <a:cs typeface="Inter" pitchFamily="34" charset="-120"/>
              </a:rPr>
              <a:t>+50 hrs</a:t>
            </a:r>
            <a:endParaRPr lang="en-US" sz="2850" dirty="0"/>
          </a:p>
        </p:txBody>
      </p:sp>
      <p:sp>
        <p:nvSpPr>
          <p:cNvPr id="9" name="Text 6"/>
          <p:cNvSpPr/>
          <p:nvPr/>
        </p:nvSpPr>
        <p:spPr>
          <a:xfrm>
            <a:off x="576263" y="3067050"/>
            <a:ext cx="1614488" cy="1095375"/>
          </a:xfrm>
          <a:prstGeom prst="rect">
            <a:avLst/>
          </a:prstGeom>
          <a:noFill/>
          <a:ln/>
        </p:spPr>
        <p:txBody>
          <a:bodyPr wrap="square" lIns="0" tIns="0" rIns="0" bIns="0" rtlCol="0" anchor="ctr"/>
          <a:lstStyle/>
          <a:p>
            <a:pPr algn="ctr" indent="0" marL="0">
              <a:lnSpc>
                <a:spcPts val="1649"/>
              </a:lnSpc>
              <a:buNone/>
            </a:pPr>
            <a:r>
              <a:rPr lang="en-US" sz="1250" spc="-25" kern="0" dirty="0">
                <a:solidFill>
                  <a:srgbClr val="000000">
                    <a:alpha val="99000"/>
                  </a:srgbClr>
                </a:solidFill>
                <a:latin typeface="Inter" pitchFamily="34" charset="0"/>
                <a:ea typeface="Inter" pitchFamily="34" charset="-122"/>
                <a:cs typeface="Inter" pitchFamily="34" charset="-120"/>
              </a:rPr>
              <a:t>saved per inspector per month, freeing inspectors for other projects and driving efficiency gains</a:t>
            </a:r>
            <a:endParaRPr lang="en-US" sz="1250" dirty="0"/>
          </a:p>
        </p:txBody>
      </p:sp>
      <p:sp>
        <p:nvSpPr>
          <p:cNvPr id="10" name="Text 7"/>
          <p:cNvSpPr/>
          <p:nvPr/>
        </p:nvSpPr>
        <p:spPr>
          <a:xfrm>
            <a:off x="728663" y="1700213"/>
            <a:ext cx="1309688" cy="276225"/>
          </a:xfrm>
          <a:prstGeom prst="rect">
            <a:avLst/>
          </a:prstGeom>
          <a:noFill/>
          <a:ln/>
        </p:spPr>
        <p:txBody>
          <a:bodyPr wrap="square" lIns="0" tIns="0" rIns="0" bIns="0" rtlCol="0" anchor="ctr"/>
          <a:lstStyle/>
          <a:p>
            <a:pPr algn="ctr" indent="0" marL="0">
              <a:lnSpc>
                <a:spcPts val="2052"/>
              </a:lnSpc>
              <a:buNone/>
            </a:pPr>
            <a:r>
              <a:rPr lang="en-US" sz="1710" b="1" spc="-34" kern="0" dirty="0">
                <a:solidFill>
                  <a:srgbClr val="000000">
                    <a:alpha val="99000"/>
                  </a:srgbClr>
                </a:solidFill>
                <a:latin typeface="Inter" pitchFamily="34" charset="0"/>
                <a:ea typeface="Inter" pitchFamily="34" charset="-122"/>
                <a:cs typeface="Inter" pitchFamily="34" charset="-120"/>
              </a:rPr>
              <a:t>Inspectors</a:t>
            </a:r>
            <a:endParaRPr lang="en-US" sz="1710" dirty="0"/>
          </a:p>
        </p:txBody>
      </p:sp>
      <p:sp>
        <p:nvSpPr>
          <p:cNvPr id="11" name="Text 8"/>
          <p:cNvSpPr/>
          <p:nvPr/>
        </p:nvSpPr>
        <p:spPr>
          <a:xfrm>
            <a:off x="2728913" y="2433638"/>
            <a:ext cx="1466850" cy="457200"/>
          </a:xfrm>
          <a:prstGeom prst="rect">
            <a:avLst/>
          </a:prstGeom>
          <a:noFill/>
          <a:ln/>
        </p:spPr>
        <p:txBody>
          <a:bodyPr wrap="square" lIns="0" tIns="0" rIns="0" bIns="0" rtlCol="0" anchor="ctr"/>
          <a:lstStyle/>
          <a:p>
            <a:pPr algn="ctr" indent="0" marL="0">
              <a:lnSpc>
                <a:spcPts val="3420"/>
              </a:lnSpc>
              <a:buNone/>
            </a:pPr>
            <a:r>
              <a:rPr lang="en-US" sz="2850" b="1" spc="-57" kern="0" dirty="0">
                <a:solidFill>
                  <a:srgbClr val="000000">
                    <a:alpha val="99000"/>
                  </a:srgbClr>
                </a:solidFill>
                <a:latin typeface="Inter" pitchFamily="34" charset="0"/>
                <a:ea typeface="Inter" pitchFamily="34" charset="-122"/>
                <a:cs typeface="Inter" pitchFamily="34" charset="-120"/>
              </a:rPr>
              <a:t>£1.2M</a:t>
            </a:r>
            <a:endParaRPr lang="en-US" sz="2850" dirty="0"/>
          </a:p>
        </p:txBody>
      </p:sp>
      <p:sp>
        <p:nvSpPr>
          <p:cNvPr id="12" name="Text 9"/>
          <p:cNvSpPr/>
          <p:nvPr/>
        </p:nvSpPr>
        <p:spPr>
          <a:xfrm>
            <a:off x="2643188" y="3067050"/>
            <a:ext cx="1733550" cy="1095375"/>
          </a:xfrm>
          <a:prstGeom prst="rect">
            <a:avLst/>
          </a:prstGeom>
          <a:noFill/>
          <a:ln/>
        </p:spPr>
        <p:txBody>
          <a:bodyPr wrap="square" lIns="0" tIns="0" rIns="0" bIns="0" rtlCol="0" anchor="ctr"/>
          <a:lstStyle/>
          <a:p>
            <a:pPr algn="ctr" indent="0" marL="0">
              <a:lnSpc>
                <a:spcPts val="1649"/>
              </a:lnSpc>
              <a:buNone/>
            </a:pPr>
            <a:r>
              <a:rPr lang="en-US" sz="1250" spc="-25" kern="0" dirty="0">
                <a:solidFill>
                  <a:srgbClr val="000000">
                    <a:alpha val="99000"/>
                  </a:srgbClr>
                </a:solidFill>
                <a:latin typeface="Inter" pitchFamily="34" charset="0"/>
                <a:ea typeface="Inter" pitchFamily="34" charset="-122"/>
                <a:cs typeface="Inter" pitchFamily="34" charset="-120"/>
              </a:rPr>
              <a:t>deal secured for a major client through competitive pricing enabled by inspector efficiency</a:t>
            </a:r>
            <a:endParaRPr lang="en-US" sz="1250" dirty="0"/>
          </a:p>
        </p:txBody>
      </p:sp>
      <p:sp>
        <p:nvSpPr>
          <p:cNvPr id="13" name="Text 10"/>
          <p:cNvSpPr/>
          <p:nvPr/>
        </p:nvSpPr>
        <p:spPr>
          <a:xfrm>
            <a:off x="2862263" y="1700213"/>
            <a:ext cx="1295400" cy="552450"/>
          </a:xfrm>
          <a:prstGeom prst="rect">
            <a:avLst/>
          </a:prstGeom>
          <a:noFill/>
          <a:ln/>
        </p:spPr>
        <p:txBody>
          <a:bodyPr wrap="square" lIns="0" tIns="0" rIns="0" bIns="0" rtlCol="0" anchor="ctr"/>
          <a:lstStyle/>
          <a:p>
            <a:pPr algn="ctr" indent="0" marL="0">
              <a:lnSpc>
                <a:spcPts val="2052"/>
              </a:lnSpc>
              <a:buNone/>
            </a:pPr>
            <a:r>
              <a:rPr lang="en-US" sz="1710" b="1" spc="-34" kern="0" dirty="0">
                <a:solidFill>
                  <a:srgbClr val="000000">
                    <a:alpha val="99000"/>
                  </a:srgbClr>
                </a:solidFill>
                <a:latin typeface="Inter" pitchFamily="34" charset="0"/>
                <a:ea typeface="Inter" pitchFamily="34" charset="-122"/>
                <a:cs typeface="Inter" pitchFamily="34" charset="-120"/>
              </a:rPr>
              <a:t>Contract Won</a:t>
            </a:r>
            <a:endParaRPr lang="en-US" sz="1710" dirty="0"/>
          </a:p>
        </p:txBody>
      </p:sp>
      <p:sp>
        <p:nvSpPr>
          <p:cNvPr id="14" name="Text 11"/>
          <p:cNvSpPr/>
          <p:nvPr/>
        </p:nvSpPr>
        <p:spPr>
          <a:xfrm>
            <a:off x="5172075" y="2433638"/>
            <a:ext cx="919162" cy="457200"/>
          </a:xfrm>
          <a:prstGeom prst="rect">
            <a:avLst/>
          </a:prstGeom>
          <a:noFill/>
          <a:ln/>
        </p:spPr>
        <p:txBody>
          <a:bodyPr wrap="square" lIns="0" tIns="0" rIns="0" bIns="0" rtlCol="0" anchor="ctr"/>
          <a:lstStyle/>
          <a:p>
            <a:pPr algn="ctr" indent="0" marL="0">
              <a:lnSpc>
                <a:spcPts val="3420"/>
              </a:lnSpc>
              <a:buNone/>
            </a:pPr>
            <a:r>
              <a:rPr lang="en-US" sz="2850" b="1" spc="-57" kern="0" dirty="0">
                <a:solidFill>
                  <a:srgbClr val="000000">
                    <a:alpha val="99000"/>
                  </a:srgbClr>
                </a:solidFill>
                <a:latin typeface="Inter" pitchFamily="34" charset="0"/>
                <a:ea typeface="Inter" pitchFamily="34" charset="-122"/>
                <a:cs typeface="Inter" pitchFamily="34" charset="-120"/>
              </a:rPr>
              <a:t>5x</a:t>
            </a:r>
            <a:endParaRPr lang="en-US" sz="2850" dirty="0"/>
          </a:p>
        </p:txBody>
      </p:sp>
      <p:sp>
        <p:nvSpPr>
          <p:cNvPr id="15" name="Text 12"/>
          <p:cNvSpPr/>
          <p:nvPr/>
        </p:nvSpPr>
        <p:spPr>
          <a:xfrm>
            <a:off x="4700588" y="3067050"/>
            <a:ext cx="1866900" cy="876300"/>
          </a:xfrm>
          <a:prstGeom prst="rect">
            <a:avLst/>
          </a:prstGeom>
          <a:noFill/>
          <a:ln/>
        </p:spPr>
        <p:txBody>
          <a:bodyPr wrap="square" lIns="0" tIns="0" rIns="0" bIns="0" rtlCol="0" anchor="ctr"/>
          <a:lstStyle/>
          <a:p>
            <a:pPr algn="ctr" indent="0" marL="0">
              <a:lnSpc>
                <a:spcPts val="1649"/>
              </a:lnSpc>
              <a:buNone/>
            </a:pPr>
            <a:r>
              <a:rPr lang="en-US" sz="1250" spc="-25" kern="0" dirty="0">
                <a:solidFill>
                  <a:srgbClr val="000000">
                    <a:alpha val="99000"/>
                  </a:srgbClr>
                </a:solidFill>
                <a:latin typeface="Inter" pitchFamily="34" charset="0"/>
                <a:ea typeface="Inter" pitchFamily="34" charset="-122"/>
                <a:cs typeface="Inter" pitchFamily="34" charset="-120"/>
              </a:rPr>
              <a:t>faster delivery of inspection results and risk assessments through automation</a:t>
            </a:r>
            <a:endParaRPr lang="en-US" sz="1250" dirty="0"/>
          </a:p>
        </p:txBody>
      </p:sp>
      <p:sp>
        <p:nvSpPr>
          <p:cNvPr id="16" name="Text 13"/>
          <p:cNvSpPr/>
          <p:nvPr/>
        </p:nvSpPr>
        <p:spPr>
          <a:xfrm>
            <a:off x="7024688" y="2433638"/>
            <a:ext cx="1462088" cy="457200"/>
          </a:xfrm>
          <a:prstGeom prst="rect">
            <a:avLst/>
          </a:prstGeom>
          <a:noFill/>
          <a:ln/>
        </p:spPr>
        <p:txBody>
          <a:bodyPr wrap="square" lIns="0" tIns="0" rIns="0" bIns="0" rtlCol="0" anchor="ctr"/>
          <a:lstStyle/>
          <a:p>
            <a:pPr algn="ctr" indent="0" marL="0">
              <a:lnSpc>
                <a:spcPts val="3420"/>
              </a:lnSpc>
              <a:buNone/>
            </a:pPr>
            <a:r>
              <a:rPr lang="en-US" sz="2850" b="1" spc="-57" kern="0" dirty="0">
                <a:solidFill>
                  <a:srgbClr val="000000">
                    <a:alpha val="99000"/>
                  </a:srgbClr>
                </a:solidFill>
                <a:latin typeface="Inter" pitchFamily="34" charset="0"/>
                <a:ea typeface="Inter" pitchFamily="34" charset="-122"/>
                <a:cs typeface="Inter" pitchFamily="34" charset="-120"/>
              </a:rPr>
              <a:t>99.99%</a:t>
            </a:r>
            <a:endParaRPr lang="en-US" sz="2850" dirty="0"/>
          </a:p>
        </p:txBody>
      </p:sp>
      <p:sp>
        <p:nvSpPr>
          <p:cNvPr id="17" name="Text 14"/>
          <p:cNvSpPr/>
          <p:nvPr/>
        </p:nvSpPr>
        <p:spPr>
          <a:xfrm>
            <a:off x="6862763" y="3067050"/>
            <a:ext cx="1785938" cy="876300"/>
          </a:xfrm>
          <a:prstGeom prst="rect">
            <a:avLst/>
          </a:prstGeom>
          <a:noFill/>
          <a:ln/>
        </p:spPr>
        <p:txBody>
          <a:bodyPr wrap="square" lIns="0" tIns="0" rIns="0" bIns="0" rtlCol="0" anchor="ctr"/>
          <a:lstStyle/>
          <a:p>
            <a:pPr algn="ctr" indent="0" marL="0">
              <a:lnSpc>
                <a:spcPts val="1649"/>
              </a:lnSpc>
              <a:buNone/>
            </a:pPr>
            <a:r>
              <a:rPr lang="en-US" sz="1250" spc="-25" kern="0" dirty="0">
                <a:solidFill>
                  <a:srgbClr val="000000">
                    <a:alpha val="99000"/>
                  </a:srgbClr>
                </a:solidFill>
                <a:latin typeface="Inter" pitchFamily="34" charset="0"/>
                <a:ea typeface="Inter" pitchFamily="34" charset="-122"/>
                <a:cs typeface="Inter" pitchFamily="34" charset="-120"/>
              </a:rPr>
              <a:t>software uptime, without bugs or any other issues - 4 minutes a month</a:t>
            </a:r>
            <a:endParaRPr lang="en-US" sz="1250" dirty="0"/>
          </a:p>
        </p:txBody>
      </p:sp>
      <p:sp>
        <p:nvSpPr>
          <p:cNvPr id="18" name="Text 15"/>
          <p:cNvSpPr/>
          <p:nvPr/>
        </p:nvSpPr>
        <p:spPr>
          <a:xfrm>
            <a:off x="7158038" y="1700213"/>
            <a:ext cx="1200150" cy="276225"/>
          </a:xfrm>
          <a:prstGeom prst="rect">
            <a:avLst/>
          </a:prstGeom>
          <a:noFill/>
          <a:ln/>
        </p:spPr>
        <p:txBody>
          <a:bodyPr wrap="square" lIns="0" tIns="0" rIns="0" bIns="0" rtlCol="0" anchor="ctr"/>
          <a:lstStyle/>
          <a:p>
            <a:pPr algn="ctr" indent="0" marL="0">
              <a:lnSpc>
                <a:spcPts val="2052"/>
              </a:lnSpc>
              <a:buNone/>
            </a:pPr>
            <a:r>
              <a:rPr lang="en-US" sz="1710" b="1" spc="-34" kern="0" dirty="0">
                <a:solidFill>
                  <a:srgbClr val="000000">
                    <a:alpha val="99000"/>
                  </a:srgbClr>
                </a:solidFill>
                <a:latin typeface="Inter" pitchFamily="34" charset="0"/>
                <a:ea typeface="Inter" pitchFamily="34" charset="-122"/>
                <a:cs typeface="Inter" pitchFamily="34" charset="-120"/>
              </a:rPr>
              <a:t>Uptime</a:t>
            </a:r>
            <a:endParaRPr lang="en-US" sz="1710" dirty="0"/>
          </a:p>
        </p:txBody>
      </p:sp>
      <p:pic>
        <p:nvPicPr>
          <p:cNvPr id="19" name="Image 0" descr="preencoded.png">    </p:cNvPr>
          <p:cNvPicPr>
            <a:picLocks noChangeAspect="1"/>
          </p:cNvPicPr>
          <p:nvPr/>
        </p:nvPicPr>
        <p:blipFill>
          <a:blip r:embed="rId1"/>
          <a:srcRect l="0" r="0" t="0" b="0"/>
          <a:stretch/>
        </p:blipFill>
        <p:spPr>
          <a:xfrm>
            <a:off x="414338" y="4724400"/>
            <a:ext cx="581025" cy="117708"/>
          </a:xfrm>
          <a:prstGeom prst="rect">
            <a:avLst/>
          </a:prstGeom>
        </p:spPr>
      </p:pic>
      <p:sp>
        <p:nvSpPr>
          <p:cNvPr id="20" name="Text 16"/>
          <p:cNvSpPr/>
          <p:nvPr/>
        </p:nvSpPr>
        <p:spPr>
          <a:xfrm>
            <a:off x="4953000" y="1619250"/>
            <a:ext cx="1357313" cy="552450"/>
          </a:xfrm>
          <a:prstGeom prst="rect">
            <a:avLst/>
          </a:prstGeom>
          <a:noFill/>
          <a:ln/>
        </p:spPr>
        <p:txBody>
          <a:bodyPr wrap="square" lIns="0" tIns="0" rIns="0" bIns="0" rtlCol="0" anchor="ctr"/>
          <a:lstStyle/>
          <a:p>
            <a:pPr algn="ctr" indent="0" marL="0">
              <a:lnSpc>
                <a:spcPts val="2052"/>
              </a:lnSpc>
              <a:buNone/>
            </a:pPr>
            <a:r>
              <a:rPr lang="en-US" sz="1710" b="1" spc="-34" kern="0" dirty="0">
                <a:solidFill>
                  <a:srgbClr val="000000">
                    <a:alpha val="99000"/>
                  </a:srgbClr>
                </a:solidFill>
                <a:latin typeface="Inter" pitchFamily="34" charset="0"/>
                <a:ea typeface="Inter" pitchFamily="34" charset="-122"/>
                <a:cs typeface="Inter" pitchFamily="34" charset="-120"/>
              </a:rPr>
              <a:t>Inspection time</a:t>
            </a:r>
            <a:endParaRPr lang="en-US" sz="171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414338" y="4724400"/>
            <a:ext cx="586104" cy="118616"/>
          </a:xfrm>
          <a:prstGeom prst="rect">
            <a:avLst/>
          </a:prstGeom>
        </p:spPr>
      </p:pic>
      <p:pic>
        <p:nvPicPr>
          <p:cNvPr id="3" name="Image 1" descr="preencoded.png">    </p:cNvPr>
          <p:cNvPicPr>
            <a:picLocks noChangeAspect="1"/>
          </p:cNvPicPr>
          <p:nvPr/>
        </p:nvPicPr>
        <p:blipFill>
          <a:blip r:embed="rId2"/>
          <a:srcRect l="0" r="0" t="0" b="0"/>
          <a:stretch/>
        </p:blipFill>
        <p:spPr>
          <a:xfrm>
            <a:off x="6205538" y="3033713"/>
            <a:ext cx="1609725" cy="485775"/>
          </a:xfrm>
          <a:prstGeom prst="rect">
            <a:avLst/>
          </a:prstGeom>
        </p:spPr>
      </p:pic>
      <p:pic>
        <p:nvPicPr>
          <p:cNvPr id="4" name="Image 2" descr="preencoded.png">    </p:cNvPr>
          <p:cNvPicPr>
            <a:picLocks noChangeAspect="1"/>
          </p:cNvPicPr>
          <p:nvPr/>
        </p:nvPicPr>
        <p:blipFill>
          <a:blip r:embed="rId3"/>
          <a:srcRect l="0" r="0" t="0" b="0"/>
          <a:stretch/>
        </p:blipFill>
        <p:spPr>
          <a:xfrm>
            <a:off x="3495675" y="1352550"/>
            <a:ext cx="1012120" cy="623565"/>
          </a:xfrm>
          <a:prstGeom prst="rect">
            <a:avLst/>
          </a:prstGeom>
        </p:spPr>
      </p:pic>
      <p:pic>
        <p:nvPicPr>
          <p:cNvPr id="5" name="Image 3" descr="preencoded.png">    </p:cNvPr>
          <p:cNvPicPr>
            <a:picLocks noChangeAspect="1"/>
          </p:cNvPicPr>
          <p:nvPr/>
        </p:nvPicPr>
        <p:blipFill>
          <a:blip r:embed="rId4"/>
          <a:srcRect l="0" r="0" t="0" b="0"/>
          <a:stretch/>
        </p:blipFill>
        <p:spPr>
          <a:xfrm>
            <a:off x="1633538" y="1476375"/>
            <a:ext cx="1519647" cy="407837"/>
          </a:xfrm>
          <a:prstGeom prst="rect">
            <a:avLst/>
          </a:prstGeom>
        </p:spPr>
      </p:pic>
      <p:pic>
        <p:nvPicPr>
          <p:cNvPr id="6" name="Image 4" descr="preencoded.png">    </p:cNvPr>
          <p:cNvPicPr>
            <a:picLocks noChangeAspect="1"/>
          </p:cNvPicPr>
          <p:nvPr/>
        </p:nvPicPr>
        <p:blipFill>
          <a:blip r:embed="rId5"/>
          <a:srcRect l="0" r="0" t="0" b="0"/>
          <a:stretch/>
        </p:blipFill>
        <p:spPr>
          <a:xfrm>
            <a:off x="4543425" y="3057525"/>
            <a:ext cx="1203806" cy="439689"/>
          </a:xfrm>
          <a:prstGeom prst="rect">
            <a:avLst/>
          </a:prstGeom>
        </p:spPr>
      </p:pic>
      <p:pic>
        <p:nvPicPr>
          <p:cNvPr id="7" name="Image 5" descr="preencoded.png">    </p:cNvPr>
          <p:cNvPicPr>
            <a:picLocks noChangeAspect="1"/>
          </p:cNvPicPr>
          <p:nvPr/>
        </p:nvPicPr>
        <p:blipFill>
          <a:blip r:embed="rId6"/>
          <a:srcRect l="0" r="0" t="0" b="0"/>
          <a:stretch/>
        </p:blipFill>
        <p:spPr>
          <a:xfrm>
            <a:off x="852488" y="2066925"/>
            <a:ext cx="1485551" cy="742776"/>
          </a:xfrm>
          <a:prstGeom prst="rect">
            <a:avLst/>
          </a:prstGeom>
        </p:spPr>
      </p:pic>
      <p:pic>
        <p:nvPicPr>
          <p:cNvPr id="8" name="Image 6" descr="preencoded.png">    </p:cNvPr>
          <p:cNvPicPr>
            <a:picLocks noChangeAspect="1"/>
          </p:cNvPicPr>
          <p:nvPr/>
        </p:nvPicPr>
        <p:blipFill>
          <a:blip r:embed="rId7"/>
          <a:srcRect l="0" r="0" t="0" b="0"/>
          <a:stretch/>
        </p:blipFill>
        <p:spPr>
          <a:xfrm>
            <a:off x="4095750" y="2200275"/>
            <a:ext cx="753414" cy="480308"/>
          </a:xfrm>
          <a:prstGeom prst="rect">
            <a:avLst/>
          </a:prstGeom>
        </p:spPr>
      </p:pic>
      <p:sp>
        <p:nvSpPr>
          <p:cNvPr id="9" name="Text 0"/>
          <p:cNvSpPr/>
          <p:nvPr/>
        </p:nvSpPr>
        <p:spPr>
          <a:xfrm>
            <a:off x="2776538" y="652463"/>
            <a:ext cx="3586163" cy="342900"/>
          </a:xfrm>
          <a:prstGeom prst="rect">
            <a:avLst/>
          </a:prstGeom>
          <a:noFill/>
          <a:ln/>
        </p:spPr>
        <p:txBody>
          <a:bodyPr wrap="square" lIns="0" tIns="0" rIns="0" bIns="0" rtlCol="0" anchor="ctr"/>
          <a:lstStyle/>
          <a:p>
            <a:pPr algn="l" indent="0" marL="0">
              <a:lnSpc>
                <a:spcPts val="2565"/>
              </a:lnSpc>
              <a:buNone/>
            </a:pPr>
            <a:r>
              <a:rPr lang="en-US" sz="2138" b="1" spc="-47" kern="0" dirty="0">
                <a:solidFill>
                  <a:srgbClr val="262D29">
                    <a:alpha val="99000"/>
                  </a:srgbClr>
                </a:solidFill>
                <a:latin typeface="Manrope" pitchFamily="34" charset="0"/>
                <a:ea typeface="Manrope" pitchFamily="34" charset="-122"/>
                <a:cs typeface="Manrope" pitchFamily="34" charset="-120"/>
              </a:rPr>
              <a:t>Trusted by Global Leaders</a:t>
            </a:r>
            <a:endParaRPr lang="en-US" sz="2138" dirty="0"/>
          </a:p>
        </p:txBody>
      </p:sp>
      <p:pic>
        <p:nvPicPr>
          <p:cNvPr id="10" name="Image 7" descr="preencoded.png">    </p:cNvPr>
          <p:cNvPicPr>
            <a:picLocks noChangeAspect="1"/>
          </p:cNvPicPr>
          <p:nvPr/>
        </p:nvPicPr>
        <p:blipFill>
          <a:blip r:embed="rId8"/>
          <a:srcRect l="0" r="1" t="0" b="0"/>
          <a:stretch/>
        </p:blipFill>
        <p:spPr>
          <a:xfrm>
            <a:off x="7210425" y="2190750"/>
            <a:ext cx="484436" cy="541738"/>
          </a:xfrm>
          <a:prstGeom prst="rect">
            <a:avLst/>
          </a:prstGeom>
        </p:spPr>
      </p:pic>
      <p:pic>
        <p:nvPicPr>
          <p:cNvPr id="11" name="Image 8" descr="preencoded.png">    </p:cNvPr>
          <p:cNvPicPr>
            <a:picLocks noChangeAspect="1"/>
          </p:cNvPicPr>
          <p:nvPr/>
        </p:nvPicPr>
        <p:blipFill>
          <a:blip r:embed="rId9"/>
          <a:srcRect l="0" r="0" t="0" b="0"/>
          <a:stretch/>
        </p:blipFill>
        <p:spPr>
          <a:xfrm>
            <a:off x="5429250" y="2247900"/>
            <a:ext cx="1199536" cy="431152"/>
          </a:xfrm>
          <a:prstGeom prst="rect">
            <a:avLst/>
          </a:prstGeom>
        </p:spPr>
      </p:pic>
      <p:pic>
        <p:nvPicPr>
          <p:cNvPr id="12" name="Image 9" descr="preencoded.png">    </p:cNvPr>
          <p:cNvPicPr>
            <a:picLocks noChangeAspect="1"/>
          </p:cNvPicPr>
          <p:nvPr/>
        </p:nvPicPr>
        <p:blipFill>
          <a:blip r:embed="rId10"/>
          <a:srcRect l="0" r="0" t="0" b="0"/>
          <a:stretch/>
        </p:blipFill>
        <p:spPr>
          <a:xfrm>
            <a:off x="4800600" y="1476375"/>
            <a:ext cx="1224772" cy="375334"/>
          </a:xfrm>
          <a:prstGeom prst="rect">
            <a:avLst/>
          </a:prstGeom>
        </p:spPr>
      </p:pic>
      <p:pic>
        <p:nvPicPr>
          <p:cNvPr id="13" name="Image 10" descr="preencoded.png">    </p:cNvPr>
          <p:cNvPicPr>
            <a:picLocks noChangeAspect="1"/>
          </p:cNvPicPr>
          <p:nvPr/>
        </p:nvPicPr>
        <p:blipFill>
          <a:blip r:embed="rId11"/>
          <a:srcRect l="0" r="0" t="0" b="0"/>
          <a:stretch/>
        </p:blipFill>
        <p:spPr>
          <a:xfrm>
            <a:off x="3314700" y="3033713"/>
            <a:ext cx="819150" cy="476250"/>
          </a:xfrm>
          <a:prstGeom prst="rect">
            <a:avLst/>
          </a:prstGeom>
        </p:spPr>
      </p:pic>
      <p:pic>
        <p:nvPicPr>
          <p:cNvPr id="14" name="Image 11" descr="preencoded.png">    </p:cNvPr>
          <p:cNvPicPr>
            <a:picLocks noChangeAspect="1"/>
          </p:cNvPicPr>
          <p:nvPr/>
        </p:nvPicPr>
        <p:blipFill>
          <a:blip r:embed="rId12"/>
          <a:srcRect l="0" r="0" t="0" b="0"/>
          <a:stretch/>
        </p:blipFill>
        <p:spPr>
          <a:xfrm>
            <a:off x="6276975" y="1423988"/>
            <a:ext cx="973513" cy="478904"/>
          </a:xfrm>
          <a:prstGeom prst="rect">
            <a:avLst/>
          </a:prstGeom>
        </p:spPr>
      </p:pic>
      <p:pic>
        <p:nvPicPr>
          <p:cNvPr id="15" name="Image 12" descr="preencoded.png">    </p:cNvPr>
          <p:cNvPicPr>
            <a:picLocks noChangeAspect="1"/>
          </p:cNvPicPr>
          <p:nvPr/>
        </p:nvPicPr>
        <p:blipFill>
          <a:blip r:embed="rId13"/>
          <a:srcRect l="0" r="0" t="0" b="0"/>
          <a:stretch/>
        </p:blipFill>
        <p:spPr>
          <a:xfrm>
            <a:off x="1047750" y="3138488"/>
            <a:ext cx="1809750" cy="276225"/>
          </a:xfrm>
          <a:prstGeom prst="rect">
            <a:avLst/>
          </a:prstGeom>
        </p:spPr>
      </p:pic>
      <p:pic>
        <p:nvPicPr>
          <p:cNvPr id="16" name="Image 13" descr="preencoded.png">    </p:cNvPr>
          <p:cNvPicPr>
            <a:picLocks noChangeAspect="1"/>
          </p:cNvPicPr>
          <p:nvPr/>
        </p:nvPicPr>
        <p:blipFill>
          <a:blip r:embed="rId14"/>
          <a:srcRect l="0" r="0" t="0" b="0"/>
          <a:stretch/>
        </p:blipFill>
        <p:spPr>
          <a:xfrm>
            <a:off x="2514600" y="2047875"/>
            <a:ext cx="1327491" cy="720921"/>
          </a:xfrm>
          <a:prstGeom prst="rect">
            <a:avLst/>
          </a:prstGeom>
        </p:spPr>
      </p:pic>
      <p:pic>
        <p:nvPicPr>
          <p:cNvPr id="17" name="Image 14" descr="preencoded.png">    </p:cNvPr>
          <p:cNvPicPr>
            <a:picLocks noChangeAspect="1"/>
          </p:cNvPicPr>
          <p:nvPr/>
        </p:nvPicPr>
        <p:blipFill>
          <a:blip r:embed="rId15"/>
          <a:srcRect l="0" r="0" t="0" b="0"/>
          <a:stretch/>
        </p:blipFill>
        <p:spPr>
          <a:xfrm>
            <a:off x="3071813" y="3876675"/>
            <a:ext cx="881063" cy="390525"/>
          </a:xfrm>
          <a:prstGeom prst="rect">
            <a:avLst/>
          </a:prstGeom>
        </p:spPr>
      </p:pic>
      <p:pic>
        <p:nvPicPr>
          <p:cNvPr id="18" name="Image 15" descr="preencoded.png">    </p:cNvPr>
          <p:cNvPicPr>
            <a:picLocks noChangeAspect="1"/>
          </p:cNvPicPr>
          <p:nvPr/>
        </p:nvPicPr>
        <p:blipFill>
          <a:blip r:embed="rId16"/>
          <a:srcRect l="0" r="0" t="0" b="0"/>
          <a:stretch/>
        </p:blipFill>
        <p:spPr>
          <a:xfrm>
            <a:off x="1404938" y="3852863"/>
            <a:ext cx="1226869" cy="414338"/>
          </a:xfrm>
          <a:prstGeom prst="rect">
            <a:avLst/>
          </a:prstGeom>
        </p:spPr>
      </p:pic>
      <p:pic>
        <p:nvPicPr>
          <p:cNvPr id="19" name="Image 16" descr="preencoded.png">    </p:cNvPr>
          <p:cNvPicPr>
            <a:picLocks noChangeAspect="1"/>
          </p:cNvPicPr>
          <p:nvPr/>
        </p:nvPicPr>
        <p:blipFill>
          <a:blip r:embed="rId17"/>
          <a:srcRect l="0" r="0" t="0" b="0"/>
          <a:stretch/>
        </p:blipFill>
        <p:spPr>
          <a:xfrm>
            <a:off x="6181725" y="3876675"/>
            <a:ext cx="1300163" cy="323850"/>
          </a:xfrm>
          <a:prstGeom prst="rect">
            <a:avLst/>
          </a:prstGeom>
        </p:spPr>
      </p:pic>
      <p:pic>
        <p:nvPicPr>
          <p:cNvPr id="20" name="Image 17" descr="preencoded.png">    </p:cNvPr>
          <p:cNvPicPr>
            <a:picLocks noChangeAspect="1"/>
          </p:cNvPicPr>
          <p:nvPr/>
        </p:nvPicPr>
        <p:blipFill>
          <a:blip r:embed="rId18"/>
          <a:srcRect l="0" r="0" t="0" b="0"/>
          <a:stretch/>
        </p:blipFill>
        <p:spPr>
          <a:xfrm>
            <a:off x="4429125" y="3867150"/>
            <a:ext cx="1352550" cy="39109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2026-03-06T10:39:21Z</dcterms:created>
  <dcterms:modified xsi:type="dcterms:W3CDTF">2026-03-06T10:39:21Z</dcterms:modified>
</cp:coreProperties>
</file>